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[0:00-0:30] Open with the object in hand, not the slide.</a:t>
            </a:r>
          </a:p>
          <a:p/>
          <a:p>
            <a:r>
              <a:t>"This is one object. It is six sheets of clear acrylic, engraved with a laser, slotted</a:t>
            </a:r>
          </a:p>
          <a:p>
            <a:r>
              <a:t>together. On its own it looks like noise. Put a lamp behind it and it throws a portrait on</a:t>
            </a:r>
          </a:p>
          <a:p>
            <a:r>
              <a:t>the wall. Turn it 120 degrees and you get the same person from the side. Turn it again and</a:t>
            </a:r>
          </a:p>
          <a:p>
            <a:r>
              <a:t>you get the back of her head."</a:t>
            </a:r>
          </a:p>
          <a:p/>
          <a:p>
            <a:r>
              <a:t>Then start the deck. Do not read the title slide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[0:30-1:15] Keep this to 45 seconds. One line each.</a:t>
            </a:r>
          </a:p>
          <a:p/>
          <a:p>
            <a:r>
              <a:t>The point worth landing: this is a CS/Architecture collaboration, and the fabrication</a:t>
            </a:r>
          </a:p>
          <a:p>
            <a:r>
              <a:t>constraints were in the optimiser from the beginning rather than applied afterwards. That is</a:t>
            </a:r>
          </a:p>
          <a:p>
            <a:r>
              <a:t>what the third bullet on the results slide is about.</a:t>
            </a:r>
          </a:p>
          <a:p/>
          <a:p>
            <a:r>
              <a:t>TODO BEFORE PRESENTING: fill in the three "Interests" lines and Shadha's surname.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[1:15-2:15]</a:t>
            </a:r>
          </a:p>
          <a:p/>
          <a:p>
            <a:r>
              <a:t>"Vermeer's Girl with a Pearl Earring. We want three views of her — front, profile, back —</a:t>
            </a:r>
          </a:p>
          <a:p>
            <a:r>
              <a:t>out of one object on a turntable, with a fixed lamp.</a:t>
            </a:r>
          </a:p>
          <a:p/>
          <a:p>
            <a:r>
              <a:t>The image on the right is not a photograph and it is not a mock-up. It is what our solution</a:t>
            </a:r>
          </a:p>
          <a:p>
            <a:r>
              <a:t>computes the wall will look like, from the same geometry we then cut."</a:t>
            </a:r>
          </a:p>
          <a:p/>
          <a:p>
            <a:r>
              <a:t>Do not explain the algorithm yet. Just establish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[2:15-3:30] This is the slide that shows we read rather than skimmed.</a:t>
            </a:r>
          </a:p>
          <a:p/>
          <a:p>
            <a:r>
              <a:t>Spend most of the time on Baran. "Closest relative. Two ideas carry: the physics is</a:t>
            </a:r>
          </a:p>
          <a:p>
            <a:r>
              <a:t>multiplicative, and because transmittances multiply, optical densities add — so your tone</a:t>
            </a:r>
          </a:p>
          <a:p>
            <a:r>
              <a:t>levels should be evenly spaced in density, not in transmittance. We measured that: +0.034 IoU.</a:t>
            </a:r>
          </a:p>
          <a:p/>
          <a:p>
            <a:r>
              <a:t>And then we cut the build from eighteen sheets to six, re-ran the sweep, and that rule came</a:t>
            </a:r>
          </a:p>
          <a:p>
            <a:r>
              <a:t>sixth out of seven. Not because the paper is wrong — because we had measured it while the</a:t>
            </a:r>
          </a:p>
          <a:p>
            <a:r>
              <a:t>layer count was pinned by a different constraint."</a:t>
            </a:r>
          </a:p>
          <a:p/>
          <a:p>
            <a:r>
              <a:t>This sets up the closing insight. Flag it now, pay it off on the insights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[3:30-4:15] Fast. Four claims, ten seconds each. This is the "why is this a project and not</a:t>
            </a:r>
          </a:p>
          <a:p>
            <a:r>
              <a:t>a reimplementation" slide.</a:t>
            </a:r>
          </a:p>
          <a:p/>
          <a:p>
            <a:r>
              <a:t>If asked to cut for time, this is the third slide to 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[4:15-5:15] Slow down here. If the audience gets these three, everything after is easy.</a:t>
            </a:r>
          </a:p>
          <a:p/>
          <a:p>
            <a:r>
              <a:t>Obstacle 2 is the one to demonstrate with your hands — two flat palms, "half and half does</a:t>
            </a:r>
          </a:p>
          <a:p>
            <a:r>
              <a:t>not make black, it makes three-quarters."</a:t>
            </a:r>
          </a:p>
          <a:p/>
          <a:p>
            <a:r>
              <a:t>Land it: "so the naive design — one portrait per sheet — produces a black blob. We built it.</a:t>
            </a:r>
          </a:p>
          <a:p>
            <a:r>
              <a:t>It does."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[5:15-6:15] This is the conceptual centre of the talk.</a:t>
            </a:r>
          </a:p>
          <a:p/>
          <a:p>
            <a:r>
              <a:t>"Every piece of engraving casts a shadow for every view. That is normally the error term.</a:t>
            </a:r>
          </a:p>
          <a:p>
            <a:r>
              <a:t>But if a piece lands where another portrait also wanted darkness, that stray shadow is free</a:t>
            </a:r>
          </a:p>
          <a:p>
            <a:r>
              <a:t>work.</a:t>
            </a:r>
          </a:p>
          <a:p/>
          <a:p>
            <a:r>
              <a:t>So we stopped asking 'where do the front-view pieces go' and started asking 'where can a</a:t>
            </a:r>
          </a:p>
          <a:p>
            <a:r>
              <a:t>piece help all three views at once'."</a:t>
            </a:r>
          </a:p>
          <a:p/>
          <a:p>
            <a:r>
              <a:t>Then the numbers: "93% of our fragments serve all three portraits. And the measured</a:t>
            </a:r>
          </a:p>
          <a:p>
            <a:r>
              <a:t>cross-talk term is negative — the interference between the views makes the result better</a:t>
            </a:r>
          </a:p>
          <a:p>
            <a:r>
              <a:t>than solving them in isolation."</a:t>
            </a:r>
          </a:p>
          <a:p/>
          <a:p>
            <a:r>
              <a:t>That last number is the one to say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[6:15-7:00] Do not narrate all seven. Point at the chain, say "seven stages, targets in,</a:t>
            </a:r>
          </a:p>
          <a:p>
            <a:r>
              <a:t>cut files out", then go straight to:</a:t>
            </a:r>
          </a:p>
          <a:p/>
          <a:p>
            <a:r>
              <a:t>"Two of these are where the actual contribution is — assignment and re-toning. I want to</a:t>
            </a:r>
          </a:p>
          <a:p>
            <a:r>
              <a:t>spend the next three minutes on those."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[7:00-7:40] Fast, and the first slide to cut if you are running long.</a:t>
            </a:r>
          </a:p>
          <a:p/>
          <a:p>
            <a:r>
              <a:t>The line worth keeping if you compress: "we compute the blur from the lamp's physical size</a:t>
            </a:r>
          </a:p>
          <a:p>
            <a:r>
              <a:t>first, and then refuse to engrave anything finer than it. Detail below the blur is precision</a:t>
            </a:r>
          </a:p>
          <a:p>
            <a:r>
              <a:t>the light can never resolve."</a:t>
            </a:r>
          </a:p>
          <a:p/>
          <a:p>
            <a:r>
              <a:t>The panel on the right is the whole rig. If anyone wants to rebuild this, those ten numbers</a:t>
            </a:r>
          </a:p>
          <a:p>
            <a:r>
              <a:t>plus the cut files are sufficient — which is the point, and it is why they are in the</a:t>
            </a:r>
          </a:p>
          <a:p>
            <a:r>
              <a:t>submission document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[7:40-9:00] THE most important slide. Give it a full minute and do not rush.</a:t>
            </a:r>
          </a:p>
          <a:p/>
          <a:p>
            <a:r>
              <a:t>Structure:</a:t>
            </a:r>
          </a:p>
          <a:p>
            <a:r>
              <a:t>1. "The fragment's position in its own picture is already fixed. The only thing still free is</a:t>
            </a:r>
          </a:p>
          <a:p>
            <a:r>
              <a:t>   which sheet carries it — and that decides where its stray shadow falls on the other two."</a:t>
            </a:r>
          </a:p>
          <a:p>
            <a:r>
              <a:t>2. "In our first version that was a random draw. Quality swung 14 to 37 percent on the seed</a:t>
            </a:r>
          </a:p>
          <a:p>
            <a:r>
              <a:t>   alone. It was the largest single source of variance in the project."</a:t>
            </a:r>
          </a:p>
          <a:p>
            <a:r>
              <a:t>3. "It was random because scoring it properly means re-rendering a wall for every fragment,</a:t>
            </a:r>
          </a:p>
          <a:p>
            <a:r>
              <a:t>   every candidate sheet, every other view — far too expensive."</a:t>
            </a:r>
          </a:p>
          <a:p>
            <a:r>
              <a:t>4. "So instead of rendering, we compose the two homographies into one matrix that maps</a:t>
            </a:r>
          </a:p>
          <a:p>
            <a:r>
              <a:t>   directly from one wall to another. Then we only transform a couple of hundred of the</a:t>
            </a:r>
          </a:p>
          <a:p>
            <a:r>
              <a:t>   fragment's own pixels. About eighteen hundred times cheaper — and that is the difference</a:t>
            </a:r>
          </a:p>
          <a:p>
            <a:r>
              <a:t>   between optimising the choice and guessing it."</a:t>
            </a:r>
          </a:p>
          <a:p/>
          <a:p>
            <a:r>
              <a:t>Expect the critique panel to come back here. Be ready for: "is the greedy optimal?" — no, it</a:t>
            </a:r>
          </a:p>
          <a:p>
            <a:r>
              <a:t>is single-pass and myopic, no revisiting; that is on the future-work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[9:00-10:15] The second-strongest slide. It is the honest-failure slide, and panels reward it.</a:t>
            </a:r>
          </a:p>
          <a:p/>
          <a:p>
            <a:r>
              <a:t>"Our renders hit 0.845 on the standard metric and they looked wrong. Both of those were</a:t>
            </a:r>
          </a:p>
          <a:p>
            <a:r>
              <a:t>true at the same time, and that is the interesting part. IoU scores the outline of a shape. A</a:t>
            </a:r>
          </a:p>
          <a:p>
            <a:r>
              <a:t>face that is exactly the right shape and completely crushed to black scores well.</a:t>
            </a:r>
          </a:p>
          <a:p/>
          <a:p>
            <a:r>
              <a:t>We tried the textbook fix first — divide the stray light out of the target and re-solve. It</a:t>
            </a:r>
          </a:p>
          <a:p>
            <a:r>
              <a:t>oscillated. Re-solving changes which fragments exist, which changes the stray light, which</a:t>
            </a:r>
          </a:p>
          <a:p>
            <a:r>
              <a:t>changes the target.</a:t>
            </a:r>
          </a:p>
          <a:p/>
          <a:p>
            <a:r>
              <a:t>What worked was freezing the geometry entirely and only letting the tones move. That turns it</a:t>
            </a:r>
          </a:p>
          <a:p>
            <a:r>
              <a:t>into coordinate descent, which is monotone by construction. Look at the pixel counts — each</a:t>
            </a:r>
          </a:p>
          <a:p>
            <a:r>
              <a:t>sweep touches about a quarter of what the previous one did."</a:t>
            </a:r>
          </a:p>
          <a:p/>
          <a:p>
            <a:r>
              <a:t>IF ASKED ABOUT THE TABLE — this is the sharpest point on the slide, so offer it:</a:t>
            </a:r>
          </a:p>
          <a:p>
            <a:r>
              <a:t>the composite objective climbs +0.0337 across the descent while mean IoU moves</a:t>
            </a:r>
          </a:p>
          <a:p>
            <a:r>
              <a:t>+0.0024. The stage that rescued the faces is almost invisible to IoU. That is the</a:t>
            </a:r>
          </a:p>
          <a:p>
            <a:r>
              <a:t>same blindness that hid the bug, showing up again while we fixed it — which is why we now</a:t>
            </a:r>
          </a:p>
          <a:p>
            <a:r>
              <a:t>never report IoU without SSIM and an edge term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[10:15-11:00] This slide is the evidence for the promise you made on the prior-art slide.</a:t>
            </a:r>
          </a:p>
          <a:p>
            <a:r>
              <a:t>Call back to it explicitly: "earlier I said the rule we took from Baran reversed on us —</a:t>
            </a:r>
          </a:p>
          <a:p>
            <a:r>
              <a:t>here it is."</a:t>
            </a:r>
          </a:p>
          <a:p/>
          <a:p>
            <a:r>
              <a:t>Point at the bottom-left panel. The green bar is what we shipped. The rule from the</a:t>
            </a:r>
          </a:p>
          <a:p>
            <a:r>
              <a:t>literature — dark, evenly spaced tones — is the fourth bar down.</a:t>
            </a:r>
          </a:p>
          <a:p/>
          <a:p>
            <a:r>
              <a:t>Then the bottom-right panel, which is the summary of the whole semester in one chart: a</a:t>
            </a:r>
          </a:p>
          <a:p>
            <a:r>
              <a:t>third of the sheets and a quarter of the footprint of our earlier build, and still ahead of</a:t>
            </a:r>
          </a:p>
          <a:p>
            <a:r>
              <a:t>it. The last bar is measured from the cut files, not from the solver.</a:t>
            </a:r>
          </a:p>
          <a:p/>
          <a:p>
            <a:r>
              <a:t>The honest framing, if asked: neither rule was measured badly. Both were measured at</a:t>
            </a:r>
          </a:p>
          <a:p>
            <a:r>
              <a:t>eighteen sheets, where a constraint we later removed was doing the work. You cannot detect</a:t>
            </a:r>
          </a:p>
          <a:p>
            <a:r>
              <a:t>that from inside the original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[10:15-11:00]</a:t>
            </a:r>
          </a:p>
          <a:p/>
          <a:p>
            <a:r>
              <a:t>Two things to say out loud because they are the ones that surprise people:</a:t>
            </a:r>
          </a:p>
          <a:p/>
          <a:p>
            <a:r>
              <a:t>1. "Engrave before you cut. If you cut the outline first you are left with a floppy part that</a:t>
            </a:r>
          </a:p>
          <a:p>
            <a:r>
              <a:t>   lifts off the bed and defocuses the beam."</a:t>
            </a:r>
          </a:p>
          <a:p>
            <a:r>
              <a:t>2. "The widest slot is 3.46 millimetres for 3 millimetre material. That is not an error — a</a:t>
            </a:r>
          </a:p>
          <a:p>
            <a:r>
              <a:t>   slot at a 60 degree crossing has to be thickness over sine theta."</a:t>
            </a:r>
          </a:p>
          <a:p/>
          <a:p>
            <a:r>
              <a:t>Yahel should take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[11:00-11:45] Yahel's slide. Talk about the physical process, not the algorithm.</a:t>
            </a:r>
          </a:p>
          <a:p/>
          <a:p>
            <a:r>
              <a:t>Worth mentioning: the tones are specified as transmittance, not as machine settings, and had</a:t>
            </a:r>
          </a:p>
          <a:p>
            <a:r>
              <a:t>to be calibrated on scrap first. That is a genuinely non-obvious fabrication insight.</a:t>
            </a:r>
          </a:p>
          <a:p/>
          <a:p>
            <a:r>
              <a:t>TODO: drop four photos into examples/photos/ and re-run make_deck.py.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[11:45-12:15] Let this one sit. Say the caption line and stop talking for a beat.</a:t>
            </a:r>
          </a:p>
          <a:p/>
          <a:p>
            <a:r>
              <a:t>If the room can be darkened, do this live with the object and a lamp instead of the slide —</a:t>
            </a:r>
          </a:p>
          <a:p>
            <a:r>
              <a:t>it is far more convincing than any photograph. Check the room in advance.</a:t>
            </a:r>
          </a:p>
          <a:p/>
          <a:p>
            <a:r>
              <a:t>TODO: drop the three shadow photos into examples/photos/.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[12:15-13:00]</a:t>
            </a:r>
          </a:p>
          <a:p/>
          <a:p>
            <a:r>
              <a:t>Lead with the worst-view number, not the mean: "we optimise the worst of the three views</a:t>
            </a:r>
          </a:p>
          <a:p>
            <a:r>
              <a:t>explicitly, because for a three-view piece the easiest way to cheat is to sacrifice one view</a:t>
            </a:r>
          </a:p>
          <a:p>
            <a:r>
              <a:t>to flatter the average."</a:t>
            </a:r>
          </a:p>
          <a:p/>
          <a:p>
            <a:r>
              <a:t>Gate C is worth thirty seconds — see the insights slide for the story about the sheet that</a:t>
            </a:r>
          </a:p>
          <a:p>
            <a:r>
              <a:t>looked idle and was not.</a:t>
            </a:r>
          </a:p>
          <a:p/>
          <a:p>
            <a:r>
              <a:t>The 6-vs-18 table pre-empts the obvious critique question ("why only six?"). Answer it before</a:t>
            </a:r>
          </a:p>
          <a:p>
            <a:r>
              <a:t>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[13:00-13:20] Twenty seconds. This is the second slide to cut if you are over time.</a:t>
            </a:r>
          </a:p>
          <a:p/>
          <a:p>
            <a:r>
              <a:t>The honest caveat matters more than the gallery: "we know what it cannot do — the subject has</a:t>
            </a:r>
          </a:p>
          <a:p>
            <a:r>
              <a:t>to be centred on a plain background. Full-frame paintings have no silhouette to carry, and</a:t>
            </a:r>
          </a:p>
          <a:p>
            <a:r>
              <a:t>they fail."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[13:20-13:50] TEMPLATE — replace before presenting.</a:t>
            </a:r>
          </a:p>
          <a:p/>
          <a:p>
            <a:r>
              <a:t>Either run it live or play a screen recording. If neither is ready, show the CLI driving a</a:t>
            </a:r>
          </a:p>
          <a:p>
            <a:r>
              <a:t>parameter sweep and the resulting journal, and be straight about the fact that there is no</a:t>
            </a:r>
          </a:p>
          <a:p>
            <a:r>
              <a:t>GUI yet — it is on the future-work slide.</a:t>
            </a:r>
          </a:p>
          <a:p/>
          <a:p>
            <a:r>
              <a:t>Fallback that always works: open the interactive 3D scene in a browser and orbit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[13:50-14:10] TEMPLATE — replace before presenting.</a:t>
            </a:r>
          </a:p>
          <a:p/>
          <a:p>
            <a:r>
              <a:t>Be direct: there is no Grasshopper component. What we have is clean interop — OBJ, PLY, DXF,</a:t>
            </a:r>
          </a:p>
          <a:p>
            <a:r>
              <a:t>SVG — plus a browser 3D scene. Show the 3D scene live; it reads well on a projector.</a:t>
            </a:r>
          </a:p>
          <a:p/>
          <a:p>
            <a:r>
              <a:t>Do not overclaim here. The panel will respect "not yet, and here is exactly what it would</a:t>
            </a:r>
          </a:p>
          <a:p>
            <a:r>
              <a:t>take" far more than a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[14:10-14:50] TEMPLATE — replace with the actual video, played from a separate file.</a:t>
            </a:r>
          </a:p>
          <a:p/>
          <a:p>
            <a:r>
              <a:t>The rotation shot is the one that matters. Everything else is context. Shoot it in a dark</a:t>
            </a:r>
          </a:p>
          <a:p>
            <a:r>
              <a:t>room with the smallest bright lamp you can find — a phone torch is often better than a lamp</a:t>
            </a:r>
          </a:p>
          <a:p>
            <a:r>
              <a:t>because the source is small, and source size is what blurs the shadow.</a:t>
            </a:r>
          </a:p>
          <a:p/>
          <a:p>
            <a:r>
              <a:t>Note: the video is also a required Aug 9 submission item, as a separate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[14:50-15:20] The closing argument. If you are over time, cut slides 9 and 16 to protect</a:t>
            </a:r>
          </a:p>
          <a:p>
            <a:r>
              <a:t>this one — it is what the panel will remember.</a:t>
            </a:r>
          </a:p>
          <a:p/>
          <a:p>
            <a:r>
              <a:t>Lead with the first. It pays off the Baran reversal you flagged on the prior-art slide:</a:t>
            </a:r>
          </a:p>
          <a:p>
            <a:r>
              <a:t>"I said earlier that the rule we took from Baran reversed on us. That happened twice, with</a:t>
            </a:r>
          </a:p>
          <a:p>
            <a:r>
              <a:t>two different rules, and the reason was the same both times."</a:t>
            </a:r>
          </a:p>
          <a:p/>
          <a:p>
            <a:r>
              <a:t>The second one is the best anecdote in the project. Tell it as a story: "we looked at a sheet</a:t>
            </a:r>
          </a:p>
          <a:p>
            <a:r>
              <a:t>with thirty-two regions next to sheets with nine hundred and assumed it was dead weight. It</a:t>
            </a:r>
          </a:p>
          <a:p>
            <a:r>
              <a:t>turned out to be the single most important sheet in the piece."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[15:20-15:40] Close on the first item — admitting the greedy is myopic is a strength, not a</a:t>
            </a:r>
          </a:p>
          <a:p>
            <a:r>
              <a:t>weakness, and it is the question a panel is most likely to ask anyway. Answering it before</a:t>
            </a:r>
          </a:p>
          <a:p>
            <a:r>
              <a:t>they do is worth more than the thirty seconds it costs.</a:t>
            </a:r>
          </a:p>
          <a:p/>
          <a:p>
            <a:r>
              <a:t>Then stop and take questions. Ten minutes of critique follows.</a:t>
            </a:r>
          </a:p>
          <a:p/>
          <a:p>
            <a:r>
              <a:t>Have ready, in case they ask:</a:t>
            </a:r>
          </a:p>
          <a:p>
            <a:r>
              <a:t>- "Why six sheets?" -&gt; the 6-vs-18 table on the results slide.</a:t>
            </a:r>
          </a:p>
          <a:p>
            <a:r>
              <a:t>- "Is the greedy optimal?" -&gt; no, single-pass and myopic; beam search is item one here.</a:t>
            </a:r>
          </a:p>
          <a:p>
            <a:r>
              <a:t>- "How do you know the cut files match the simulation?" -&gt; gate B, the fabrication round trip.</a:t>
            </a:r>
          </a:p>
          <a:p>
            <a:r>
              <a:t>- "What happens if a sheet is mis-cut?" -&gt; the piece fails rather than degrades; there is no</a:t>
            </a:r>
          </a:p>
          <a:p>
            <a:r>
              <a:t>  redundancy at six sheets, and that is a deliberate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720840" y="777240"/>
            <a:ext cx="4828032" cy="53035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30568" y="3017520"/>
            <a:ext cx="460857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examples/photos/fab_04_object.jpg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57607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SHADOW ART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0">
                <a:solidFill>
                  <a:srgbClr val="F2F2F0"/>
                </a:solidFill>
                <a:latin typeface="Segoe UI"/>
              </a:rPr>
              <a:t>One object.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0">
                <a:solidFill>
                  <a:srgbClr val="F2F2F0"/>
                </a:solidFill>
                <a:latin typeface="Segoe UI"/>
              </a:rPr>
              <a:t>Three portraits.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200"/>
              </a:spcAft>
            </a:pPr>
            <a:r>
              <a:rPr sz="4000" b="0">
                <a:solidFill>
                  <a:srgbClr val="E8B54A"/>
                </a:solidFill>
                <a:latin typeface="Segoe UI"/>
              </a:rPr>
              <a:t>Six sheets of acrylic.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A single laser-engraved assembly that casts the Girl with a Pearl Earring from the front, the side and the back as it turns.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Ofek Yankis  ·  Shadha  ·  Yahel Hershko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MoP '26 Final Project  ·  Faculty of Architecture and Town Planning  ·  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466490" cy="41148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95442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2F2F0"/>
                </a:solidFill>
                <a:latin typeface="Segoe UI"/>
              </a:rPr>
              <a:t>Ofek Yankis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</a:pPr>
            <a:r>
              <a:rPr sz="1150" b="0">
                <a:solidFill>
                  <a:srgbClr val="E8B54A"/>
                </a:solidFill>
                <a:latin typeface="Segoe UI"/>
              </a:rPr>
              <a:t>BSc Computer Science, 3rd year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Built the simulation environment and the differentiable renderer; GPU port and performance work; parameter sweeps and the fabrication export pipeline.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Interests: [ADD — e.g. graphics, optimisation, GPU computing]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2602" y="1783080"/>
            <a:ext cx="3466490" cy="41148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8634" y="2057400"/>
            <a:ext cx="295442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2F2F0"/>
                </a:solidFill>
                <a:latin typeface="Segoe UI"/>
              </a:rPr>
              <a:t>Shadha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</a:pPr>
            <a:r>
              <a:rPr sz="1150" b="0">
                <a:solidFill>
                  <a:srgbClr val="E8B54A"/>
                </a:solidFill>
                <a:latin typeface="Segoe UI"/>
              </a:rPr>
              <a:t>BSc Computer Science, 4th year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Designed the cross-talk-aware assignment algorithm and the two-stage solver; the damage functional and the re-toning descent.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Interests: [ADD — e.g. algorithms, inverse problems, computational design]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1783080"/>
            <a:ext cx="3466490" cy="41148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22868" y="2057400"/>
            <a:ext cx="295442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2F2F0"/>
                </a:solidFill>
                <a:latin typeface="Segoe UI"/>
              </a:rPr>
              <a:t>Yahel Hershko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</a:pPr>
            <a:r>
              <a:rPr sz="1150" b="0">
                <a:solidFill>
                  <a:srgbClr val="E8B54A"/>
                </a:solidFill>
                <a:latin typeface="Segoe UI"/>
              </a:rPr>
              <a:t>MSc Architecture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Originated the concept; drove the physical and optical design; specified the material and joinery; fabricated and assembled the artefact.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Interests: [ADD — e.g. digital fabrication, computational design, light]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053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Technion — Israel Institute of Technology  ·  the project is a collaboration between Computer Science and Architecture, which is also why it exists: the algorithm and the artefact were designed against each other rather than in sequence.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BACKGROUND —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Three views of one painting, from one object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50292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8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We take Vermeer's </a:t>
            </a:r>
            <a:r>
              <a:rPr sz="1500" b="1">
                <a:solidFill>
                  <a:srgbClr val="E8B54A"/>
                </a:solidFill>
                <a:latin typeface="Segoe UI"/>
              </a:rPr>
              <a:t>Girl with a Pearl Earring</a:t>
            </a:r>
            <a:r>
              <a:rPr sz="1500" b="0">
                <a:solidFill>
                  <a:srgbClr val="F2F2F0"/>
                </a:solidFill>
                <a:latin typeface="Segoe UI"/>
              </a:rPr>
              <a:t> and three views of her — </a:t>
            </a:r>
            <a:r>
              <a:rPr sz="1500" b="1">
                <a:solidFill>
                  <a:srgbClr val="E8B54A"/>
                </a:solidFill>
                <a:latin typeface="Segoe UI"/>
              </a:rPr>
              <a:t>front, profile, back</a:t>
            </a:r>
            <a:r>
              <a:rPr sz="1500" b="0">
                <a:solidFill>
                  <a:srgbClr val="F2F2F0"/>
                </a:solidFill>
                <a:latin typeface="Segoe UI"/>
              </a:rPr>
              <a:t> — and ask for a single physical object whose shadow is all three, depending on how it is turned.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8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The object stays on a turntable. The lamp never moves. Only the rotation changes.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That constraint is the whole problem. Three images have to be encoded into one arrangement of matter, and every part of that matter is visible to </a:t>
            </a:r>
            <a:r>
              <a:rPr sz="1500" b="1">
                <a:solidFill>
                  <a:srgbClr val="E8B54A"/>
                </a:solidFill>
                <a:latin typeface="Segoe UI"/>
              </a:rPr>
              <a:t>all three</a:t>
            </a:r>
            <a:r>
              <a:rPr sz="1500" b="0">
                <a:solidFill>
                  <a:srgbClr val="F2F2F0"/>
                </a:solidFill>
                <a:latin typeface="Segoe UI"/>
              </a:rPr>
              <a:t> projections at once.</a:t>
            </a:r>
          </a:p>
        </p:txBody>
      </p:sp>
      <p:pic>
        <p:nvPicPr>
          <p:cNvPr id="6" name="Picture 5" descr="pearl6_projection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131" y="1737360"/>
            <a:ext cx="3370217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5705856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Left: the source at each of the three stops.  Right: the shadow the six-sheet solution casts there.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BACKGROUND — PRIOR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What we took from the literature — and what we didn't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3466490" cy="34747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1920240"/>
            <a:ext cx="299100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>
                <a:solidFill>
                  <a:srgbClr val="F2F2F0"/>
                </a:solidFill>
                <a:latin typeface="Segoe UI"/>
              </a:rPr>
              <a:t>Mitra &amp; Pauly — Shadow Art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SIGGRAPH Asia 2009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The founding paper. Given target silhouettes and light directions, carve a single volume whose shadows match, starting from the visual hull.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3529584"/>
            <a:ext cx="1600200" cy="25603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 w="9525">
            <a:solidFill>
              <a:srgbClr val="D96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3570732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D96B5E"/>
                </a:solidFill>
                <a:latin typeface="Segoe UI"/>
              </a:rPr>
              <a:t>NOT APPLICABLE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913632"/>
            <a:ext cx="29910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A visual hull is a connected solid. We have six flat sheets, because the manufacturing constraint is laser-cut stock. We did adopt their honesty: for many target triples no exact solution exists.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602" y="1737360"/>
            <a:ext cx="3466490" cy="34747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0346" y="1920240"/>
            <a:ext cx="299100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>
                <a:solidFill>
                  <a:srgbClr val="F2F2F0"/>
                </a:solidFill>
                <a:latin typeface="Segoe UI"/>
              </a:rPr>
              <a:t>Baran et al. — Layered Attenuators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Eurographics 2012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The closest relative. Stacked semi-transparent layers, attenuation multiplying through the stack, solved for prescribed grayscale shadows.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0346" y="3529584"/>
            <a:ext cx="1600200" cy="25603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 w="9525">
            <a:solidFill>
              <a:srgbClr val="7CC5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00346" y="3570732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7CC576"/>
                </a:solidFill>
                <a:latin typeface="Segoe UI"/>
              </a:rPr>
              <a:t>ADOPTED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0346" y="3913632"/>
            <a:ext cx="29910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Two ideas carry directly: multiplicative compositing is the physics, and because transmittances multiply, densities add — so tone levels should be spaced evenly in optical density. Measured here: +0.034 mean IoU.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6836" y="1737360"/>
            <a:ext cx="3466490" cy="34747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04580" y="1920240"/>
            <a:ext cx="299100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>
                <a:solidFill>
                  <a:srgbClr val="F2F2F0"/>
                </a:solidFill>
                <a:latin typeface="Segoe UI"/>
              </a:rPr>
              <a:t>Bermano et al. — ShadowPix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2012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Height-field reliefs producing several images under different grazing light directions, via self-shadowing of surface microstructure.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4580" y="3529584"/>
            <a:ext cx="1600200" cy="25603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 w="9525">
            <a:solidFill>
              <a:srgbClr val="D96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04580" y="3570732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D96B5E"/>
                </a:solidFill>
                <a:latin typeface="Segoe UI"/>
              </a:rPr>
              <a:t>NOT APPLICABLE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4580" y="3913632"/>
            <a:ext cx="29910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Reflection and self-shadowing, not transmission. Our tone comes from engraving density in a transmissive sheet, so the stack composes multiplicatively instead.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49240"/>
            <a:ext cx="10874959" cy="1234440"/>
          </a:xfrm>
          <a:prstGeom prst="roundRect">
            <a:avLst>
              <a:gd name="adj" fmla="val 4000"/>
            </a:avLst>
          </a:prstGeom>
          <a:solidFill>
            <a:srgbClr val="2A2110"/>
          </a:solidFill>
          <a:ln w="12700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0976" y="5532120"/>
            <a:ext cx="1028974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...and then the adopted rule reversed on us.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Density-even tone spacing won clearly at eighteen sheets. When we re-optimised for </a:t>
            </a:r>
            <a:r>
              <a:rPr sz="1150" b="1">
                <a:solidFill>
                  <a:srgbClr val="E8B54A"/>
                </a:solidFill>
                <a:latin typeface="Segoe UI"/>
              </a:rPr>
              <a:t>six</a:t>
            </a:r>
            <a:r>
              <a:rPr sz="1150" b="0">
                <a:solidFill>
                  <a:srgbClr val="F2F2F0"/>
                </a:solidFill>
                <a:latin typeface="Segoe UI"/>
              </a:rPr>
              <a:t>, it finished </a:t>
            </a:r>
            <a:r>
              <a:rPr sz="1150" b="1">
                <a:solidFill>
                  <a:srgbClr val="E8B54A"/>
                </a:solidFill>
                <a:latin typeface="Segoe UI"/>
              </a:rPr>
              <a:t>sixth out of seven</a:t>
            </a:r>
            <a:r>
              <a:rPr sz="1150" b="0">
                <a:solidFill>
                  <a:srgbClr val="F2F2F0"/>
                </a:solidFill>
                <a:latin typeface="Segoe UI"/>
              </a:rPr>
              <a:t> — light tones won instead. With eighteen layers stacking multiplicatively each must be pale; with six, the dark alphabet overshoots. The paper is not wrong. We had measured it in a regime we then left.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BACKGROUND — OUR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What is new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540431" cy="32004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121408"/>
            <a:ext cx="20649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Rotation, not relighting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46120"/>
            <a:ext cx="2064943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Prior multi-view shadow work moves the light or uses separate stacks. Here the lamp is fixed and the </a:t>
            </a:r>
            <a:r>
              <a:rPr sz="1150" b="1">
                <a:solidFill>
                  <a:srgbClr val="E8B54A"/>
                </a:solidFill>
                <a:latin typeface="Segoe UI"/>
              </a:rPr>
              <a:t>object turns</a:t>
            </a:r>
            <a:r>
              <a:rPr sz="1150" b="0">
                <a:solidFill>
                  <a:srgbClr val="92969C"/>
                </a:solidFill>
                <a:latin typeface="Segoe UI"/>
              </a:rPr>
              <a:t>, so all three images share one set of matter with no ability to mask any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6543" y="1874519"/>
            <a:ext cx="2540431" cy="32004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74287" y="2121408"/>
            <a:ext cx="20649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Engraving density as the tone alphabet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4287" y="3246120"/>
            <a:ext cx="2064943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Four levels — clear plus three burn depths — cut into </a:t>
            </a:r>
            <a:r>
              <a:rPr sz="1150" b="1">
                <a:solidFill>
                  <a:srgbClr val="E8B54A"/>
                </a:solidFill>
                <a:latin typeface="Segoe UI"/>
              </a:rPr>
              <a:t>one</a:t>
            </a:r>
            <a:r>
              <a:rPr sz="1150" b="0">
                <a:solidFill>
                  <a:srgbClr val="92969C"/>
                </a:solidFill>
                <a:latin typeface="Segoe UI"/>
              </a:rPr>
              <a:t> clear acrylic sheet. No dye, no varying thickness, no laminating different stock. Tone is a laser parameter.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1874519"/>
            <a:ext cx="2540431" cy="32004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52463" y="2121408"/>
            <a:ext cx="20649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Cross-talk priced, not suppressed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2463" y="3246120"/>
            <a:ext cx="2064943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The interference between views enters the objective as a signed quantity that can go </a:t>
            </a:r>
            <a:r>
              <a:rPr sz="1150" b="1">
                <a:solidFill>
                  <a:srgbClr val="E8B54A"/>
                </a:solidFill>
                <a:latin typeface="Segoe UI"/>
              </a:rPr>
              <a:t>negative</a:t>
            </a:r>
            <a:r>
              <a:rPr sz="1150" b="0">
                <a:solidFill>
                  <a:srgbClr val="92969C"/>
                </a:solidFill>
                <a:latin typeface="Segoe UI"/>
              </a:rPr>
              <a:t>. A fragment is rewarded for genuinely serving another view. Our measured cross-talk is constructive.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2895" y="1874519"/>
            <a:ext cx="2540431" cy="32004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30639" y="2121408"/>
            <a:ext cx="20649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04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Fabrication inside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0639" y="3246120"/>
            <a:ext cx="2064943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Kerf, minimum feature, penumbra and joint feasibility constrain the solver directly, and three gates re-verify against the </a:t>
            </a:r>
            <a:r>
              <a:rPr sz="1150" b="1">
                <a:solidFill>
                  <a:srgbClr val="E8B54A"/>
                </a:solidFill>
                <a:latin typeface="Segoe UI"/>
              </a:rPr>
              <a:t>exported polygons</a:t>
            </a:r>
            <a:r>
              <a:rPr sz="1150" b="0">
                <a:solidFill>
                  <a:srgbClr val="92969C"/>
                </a:solidFill>
                <a:latin typeface="Segoe UI"/>
              </a:rPr>
              <a:t> rather than the solver's own raster.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Why this is hard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810512"/>
            <a:ext cx="3466490" cy="40233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084831"/>
            <a:ext cx="291785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700" b="0">
                <a:solidFill>
                  <a:srgbClr val="F2F2F0"/>
                </a:solidFill>
                <a:latin typeface="Segoe UI"/>
              </a:rPr>
              <a:t>You cannot switch a sheet off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Light does not care which picture a sheet was meant for. When the lamp is lit for the front view, </a:t>
            </a:r>
            <a:r>
              <a:rPr sz="1250" b="1">
                <a:solidFill>
                  <a:srgbClr val="E8B54A"/>
                </a:solidFill>
                <a:latin typeface="Segoe UI"/>
              </a:rPr>
              <a:t>all six sheets</a:t>
            </a:r>
            <a:r>
              <a:rPr sz="1250" b="0">
                <a:solidFill>
                  <a:srgbClr val="92969C"/>
                </a:solidFill>
                <a:latin typeface="Segoe UI"/>
              </a:rPr>
              <a:t> are in the beam — including the four intended for the other two views. Their shadows land on the wall too, stretched and smeared across the face. There is no masking operation available.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2602" y="1810512"/>
            <a:ext cx="3466490" cy="40233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36922" y="2084831"/>
            <a:ext cx="291785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700" b="0">
                <a:solidFill>
                  <a:srgbClr val="F2F2F0"/>
                </a:solidFill>
                <a:latin typeface="Segoe UI"/>
              </a:rPr>
              <a:t>Shadows multiply, they do not add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Two half-dark patches in line do not make black. Each passes half the light, so together they pass a quarter. Three sheets that each independently wanted mid-grey compose to </a:t>
            </a:r>
            <a:r>
              <a:rPr sz="1250" b="1">
                <a:solidFill>
                  <a:srgbClr val="E8B54A"/>
                </a:solidFill>
                <a:latin typeface="Segoe UI"/>
              </a:rPr>
              <a:t>0.6³ = 0.22</a:t>
            </a:r>
            <a:r>
              <a:rPr sz="1250" b="0">
                <a:solidFill>
                  <a:srgbClr val="92969C"/>
                </a:solidFill>
                <a:latin typeface="Segoe UI"/>
              </a:rPr>
              <a:t> — near black. Every sheet's contribution depends on what every other sheet does at that exact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1810512"/>
            <a:ext cx="3466490" cy="40233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41156" y="2084831"/>
            <a:ext cx="291785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1700" b="0">
                <a:solidFill>
                  <a:srgbClr val="F2F2F0"/>
                </a:solidFill>
                <a:latin typeface="Segoe UI"/>
              </a:rPr>
              <a:t>No single sheet may be readable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If one sheet carried a recognisable face, the piece would be a picture on plastic with decoration around it. The image has to exist </a:t>
            </a:r>
            <a:r>
              <a:rPr sz="1250" b="1">
                <a:solidFill>
                  <a:srgbClr val="E8B54A"/>
                </a:solidFill>
                <a:latin typeface="Segoe UI"/>
              </a:rPr>
              <a:t>only in the combination</a:t>
            </a:r>
            <a:r>
              <a:rPr sz="1250" b="0">
                <a:solidFill>
                  <a:srgbClr val="92969C"/>
                </a:solidFill>
                <a:latin typeface="Segoe UI"/>
              </a:rPr>
              <a:t>, so each portrait is deliberately shattered and scattered across sheets and depths.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move: stop fighting the interference, and spend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8308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A fragment of engraving sitting in the beam casts a shadow for </a:t>
            </a:r>
            <a:r>
              <a:rPr sz="1500" b="1">
                <a:solidFill>
                  <a:srgbClr val="E8B54A"/>
                </a:solidFill>
                <a:latin typeface="Segoe UI"/>
              </a:rPr>
              <a:t>every</a:t>
            </a:r>
            <a:r>
              <a:rPr sz="1500" b="0">
                <a:solidFill>
                  <a:srgbClr val="F2F2F0"/>
                </a:solidFill>
                <a:latin typeface="Segoe UI"/>
              </a:rPr>
              <a:t> view, not just its own. Normally that is the error term.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>
                <a:solidFill>
                  <a:srgbClr val="F2F2F0"/>
                </a:solidFill>
                <a:latin typeface="Segoe UI"/>
              </a:rPr>
              <a:t>But if it is positioned so that its stray shadow lands where another portrait </a:t>
            </a:r>
            <a:r>
              <a:rPr sz="1500" b="1">
                <a:solidFill>
                  <a:srgbClr val="E8B54A"/>
                </a:solidFill>
                <a:latin typeface="Segoe UI"/>
              </a:rPr>
              <a:t>also wanted darkness</a:t>
            </a:r>
            <a:r>
              <a:rPr sz="1500" b="0">
                <a:solidFill>
                  <a:srgbClr val="F2F2F0"/>
                </a:solidFill>
                <a:latin typeface="Segoe UI"/>
              </a:rPr>
              <a:t>, that shadow is not damage. It is free work. One piece of engraving, three pictures served.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So the question the optimiser answers is not "where do the front-view pieces go". It is: </a:t>
            </a:r>
            <a:r>
              <a:rPr sz="1500" b="1">
                <a:solidFill>
                  <a:srgbClr val="E8B54A"/>
                </a:solidFill>
                <a:latin typeface="Segoe UI"/>
              </a:rPr>
              <a:t>where can a piece help all three views at once?</a:t>
            </a:r>
          </a:p>
        </p:txBody>
      </p:sp>
      <p:pic>
        <p:nvPicPr>
          <p:cNvPr id="6" name="Picture 5" descr="1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260" y="1737360"/>
            <a:ext cx="302260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138928"/>
            <a:ext cx="2540431" cy="123444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5340096"/>
            <a:ext cx="2138095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>
                <a:solidFill>
                  <a:srgbClr val="E8B54A"/>
                </a:solidFill>
                <a:latin typeface="Segoe UI"/>
              </a:rPr>
              <a:t>100%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of fragments serve at least two of the three views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5138928"/>
            <a:ext cx="2540431" cy="123444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7711" y="5340096"/>
            <a:ext cx="2138095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>
                <a:solidFill>
                  <a:srgbClr val="E8B54A"/>
                </a:solidFill>
                <a:latin typeface="Segoe UI"/>
              </a:rPr>
              <a:t>93%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serve all three 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5138928"/>
            <a:ext cx="2540431" cy="123444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15887" y="5340096"/>
            <a:ext cx="2138095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>
                <a:solidFill>
                  <a:srgbClr val="E8B54A"/>
                </a:solidFill>
                <a:latin typeface="Segoe UI"/>
              </a:rPr>
              <a:t>2.93 /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average views served per fragment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2895" y="5138928"/>
            <a:ext cx="2540431" cy="123444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94063" y="5340096"/>
            <a:ext cx="2138095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>
                <a:solidFill>
                  <a:srgbClr val="E8B54A"/>
                </a:solidFill>
                <a:latin typeface="Segoe UI"/>
              </a:rPr>
              <a:t>−0.005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measured cross-talk — negative, i.e. constructive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ALGORITHMIC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Targets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Three views become darkness fields on the 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91102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32834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397426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Optics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Homographies, magnification, penumbra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5568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7300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971892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Shatter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Detail-adaptive Voronoi fragmentation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0034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1766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 w="15875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46358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Assign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Cross-talk-aware host selection — the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4500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56232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20824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Weave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Half-lap joints, collision clearance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8966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30698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 w="15875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95290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Re-tone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Coordinate descent over four 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3433" y="29260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2969C"/>
                </a:solidFill>
                <a:latin typeface="Segoe U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05165" y="1965960"/>
            <a:ext cx="1428162" cy="22860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269757" y="2194560"/>
            <a:ext cx="109897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07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Cut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Min-feature, kerf, layered DXF/SVG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70916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One renderer serves as the physics simulator, the optimisation objective and the preview.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That identity is deliberate: it removes the entire class of bug where the thing being optimised quietly diverges from the thing being measured. It is differentiable, runs on the GPU, and a complete build takes </a:t>
            </a:r>
            <a:r>
              <a:rPr sz="1250" b="1">
                <a:solidFill>
                  <a:srgbClr val="E8B54A"/>
                </a:solidFill>
                <a:latin typeface="Segoe UI"/>
              </a:rPr>
              <a:t>21.6 seconds</a:t>
            </a:r>
            <a:r>
              <a:rPr sz="1250" b="0">
                <a:solidFill>
                  <a:srgbClr val="92969C"/>
                </a:solidFill>
                <a:latin typeface="Segoe U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8932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E8B54A"/>
                </a:solidFill>
                <a:latin typeface="Segoe UI"/>
              </a:rPr>
              <a:t>The two highlighted stages are where the research contribution sits.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ALGORITHMIC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optics fix what is physically knowable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830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Central projection → one 3×3 matrix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A point light, a flat sheet and a flat wall define a projective collineation, so the whole mapping is a </a:t>
            </a:r>
            <a:r>
              <a:rPr sz="1250" b="1">
                <a:solidFill>
                  <a:srgbClr val="E8B54A"/>
                </a:solidFill>
                <a:latin typeface="Segoe UI"/>
              </a:rPr>
              <a:t>homography</a:t>
            </a:r>
            <a:r>
              <a:rPr sz="1250" b="0">
                <a:solidFill>
                  <a:srgbClr val="92969C"/>
                </a:solidFill>
                <a:latin typeface="Segoe UI"/>
              </a:rPr>
              <a:t>. We build it from the four sheet corners by normalised DLT and SVD, and cache it per (sheet, view) pair.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Magnification is the depth-to-resolution gradient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A 29.6 cm sheet becomes a </a:t>
            </a:r>
            <a:r>
              <a:rPr sz="1250" b="1">
                <a:solidFill>
                  <a:srgbClr val="E8B54A"/>
                </a:solidFill>
                <a:latin typeface="Segoe UI"/>
              </a:rPr>
              <a:t>1.80 m</a:t>
            </a:r>
            <a:r>
              <a:rPr sz="1250" b="0">
                <a:solidFill>
                  <a:srgbClr val="92969C"/>
                </a:solidFill>
                <a:latin typeface="Segoe UI"/>
              </a:rPr>
              <a:t> image — </a:t>
            </a:r>
            <a:r>
              <a:rPr sz="1250" b="1">
                <a:solidFill>
                  <a:srgbClr val="E8B54A"/>
                </a:solidFill>
                <a:latin typeface="Segoe UI"/>
              </a:rPr>
              <a:t>6.09×</a:t>
            </a:r>
            <a:r>
              <a:rPr sz="1250" b="0">
                <a:solidFill>
                  <a:srgbClr val="92969C"/>
                </a:solidFill>
                <a:latin typeface="Segoe UI"/>
              </a:rPr>
              <a:t>. Sheets nearer the lamp throw larger, coarser shadows; sheets nearer the wall carry finer detail. Depth is therefore also a detail budget.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Penumbra is a hard resolution bound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A real lamp has width, so every shadow edge is blurred — </a:t>
            </a:r>
            <a:r>
              <a:rPr sz="1250" b="1">
                <a:solidFill>
                  <a:srgbClr val="E8B54A"/>
                </a:solidFill>
                <a:latin typeface="Segoe UI"/>
              </a:rPr>
              <a:t>3.6 to 3.9 mm</a:t>
            </a:r>
            <a:r>
              <a:rPr sz="1250" b="0">
                <a:solidFill>
                  <a:srgbClr val="92969C"/>
                </a:solidFill>
                <a:latin typeface="Segoe UI"/>
              </a:rPr>
              <a:t> at the wall here. We compute that first and refuse to engrave anything finer. Detail below the blur is precision the light can never resolve; fabricating it is a lie told in acrylic.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257800" cy="41605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The rig these numbers describe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957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lamp →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3957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0.493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386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body → 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7386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2.507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0815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lamp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0815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0.874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4244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sheet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34244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295.8 × 295.8 mm, 3 mm cast acrylic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673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footprint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7673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298.7 × 298.7 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1102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image on the 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1102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1.80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4531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magnification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4531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6.085×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960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penumbra at the wall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7960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3.59 / 3.93 / 3.93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1389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smallest honest feature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51389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30.4 mm at the wall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481828"/>
            <a:ext cx="2286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turntable stops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81828"/>
            <a:ext cx="2423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2F2F0"/>
                </a:solidFill>
                <a:latin typeface="Segoe UI"/>
              </a:rPr>
              <a:t>15° / 135° / 255°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core: choosing which sheet hosts each fragment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5394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</a:pPr>
            <a:r>
              <a:rPr sz="1350" b="0">
                <a:solidFill>
                  <a:srgbClr val="F2F2F0"/>
                </a:solidFill>
                <a:latin typeface="Segoe UI"/>
              </a:rPr>
              <a:t>A fragment's position within its own portrait is already fixed by the optics. The one remaining free variable is </a:t>
            </a:r>
            <a:r>
              <a:rPr sz="1350" b="1">
                <a:solidFill>
                  <a:srgbClr val="E8B54A"/>
                </a:solidFill>
                <a:latin typeface="Segoe UI"/>
              </a:rPr>
              <a:t>which sheet hosts it</a:t>
            </a:r>
            <a:r>
              <a:rPr sz="1350" b="0">
                <a:solidFill>
                  <a:srgbClr val="F2F2F0"/>
                </a:solidFill>
                <a:latin typeface="Segoe UI"/>
              </a:rPr>
              <a:t> — and that single choice decides where its unavoidable stray shadow lands on the other two views.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F2F0"/>
                </a:solidFill>
                <a:latin typeface="Segoe UI"/>
              </a:rPr>
              <a:t>It is the entire lever on cross-talk. In our first implementation it was a </a:t>
            </a:r>
            <a:r>
              <a:rPr sz="1350" b="1">
                <a:solidFill>
                  <a:srgbClr val="E8B54A"/>
                </a:solidFill>
                <a:latin typeface="Segoe UI"/>
              </a:rPr>
              <a:t>random draw</a:t>
            </a:r>
            <a:r>
              <a:rPr sz="1350" b="0">
                <a:solidFill>
                  <a:srgbClr val="F2F2F0"/>
                </a:solidFill>
                <a:latin typeface="Segoe UI"/>
              </a:rPr>
              <a:t> — which is exactly why reconstruction quality swung </a:t>
            </a:r>
            <a:r>
              <a:rPr sz="1350" b="1">
                <a:solidFill>
                  <a:srgbClr val="E8B54A"/>
                </a:solidFill>
                <a:latin typeface="Segoe UI"/>
              </a:rPr>
              <a:t>14–37% on the random seed alone</a:t>
            </a:r>
            <a:r>
              <a:rPr sz="1350" b="0">
                <a:solidFill>
                  <a:srgbClr val="F2F2F0"/>
                </a:solidFill>
                <a:latin typeface="Segoe U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4114800"/>
            <a:ext cx="5394960" cy="20116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434340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Why it was random: cost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2969C"/>
                </a:solidFill>
                <a:latin typeface="Segoe UI"/>
              </a:rPr>
              <a:t>Scoring a candidate host naively means re-rendering a wall — for every fragment, every candidate sheet, every other view. That is far too expensive to do, so the original code guessed.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37360"/>
            <a:ext cx="5120640" cy="21945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20840" y="1965960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The trick: compose the two homographies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92969C"/>
                </a:solidFill>
                <a:latin typeface="Segoe UI"/>
              </a:rPr>
              <a:t>We precompute one matrix  </a:t>
            </a:r>
            <a:r>
              <a:rPr sz="1200" b="1">
                <a:solidFill>
                  <a:srgbClr val="E8B54A"/>
                </a:solidFill>
                <a:latin typeface="Segoe UI"/>
              </a:rPr>
              <a:t>G = H(sheet→other view) · H(own view→sheet)</a:t>
            </a:r>
            <a:r>
              <a:rPr sz="1200" b="0">
                <a:solidFill>
                  <a:srgbClr val="92969C"/>
                </a:solidFill>
                <a:latin typeface="Segoe UI"/>
              </a:rPr>
              <a:t>  per sheet and view pair. It maps a point on the fragment's own wall </a:t>
            </a:r>
            <a:r>
              <a:rPr sz="1200" b="1">
                <a:solidFill>
                  <a:srgbClr val="E8B54A"/>
                </a:solidFill>
                <a:latin typeface="Segoe UI"/>
              </a:rPr>
              <a:t>directly</a:t>
            </a:r>
            <a:r>
              <a:rPr sz="1200" b="0">
                <a:solidFill>
                  <a:srgbClr val="92969C"/>
                </a:solidFill>
                <a:latin typeface="Segoe UI"/>
              </a:rPr>
              <a:t> to where that material lands on another view's wall.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Damage is then evaluated by transforming at most </a:t>
            </a:r>
            <a:r>
              <a:rPr sz="1200" b="1">
                <a:solidFill>
                  <a:srgbClr val="E8B54A"/>
                </a:solidFill>
                <a:latin typeface="Segoe UI"/>
              </a:rPr>
              <a:t>200 of the fragment's own pixels</a:t>
            </a:r>
            <a:r>
              <a:rPr sz="1200" b="0">
                <a:solidFill>
                  <a:srgbClr val="F2F2F0"/>
                </a:solidFill>
                <a:latin typeface="Segoe UI"/>
              </a:rPr>
              <a:t>. No wall is rendered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114800"/>
            <a:ext cx="5120640" cy="310896"/>
          </a:xfrm>
          <a:prstGeom prst="rect">
            <a:avLst/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74536" y="4169663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Cost of host 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4976" y="4169663"/>
            <a:ext cx="13441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complexity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4480559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Naive — re-render per candidate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4480559"/>
            <a:ext cx="13441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F · P · V ·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4736592"/>
            <a:ext cx="5120640" cy="310896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74536" y="4791455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Ours — composed homography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4976" y="4791455"/>
            <a:ext cx="13441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F · P · V · 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5102351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Speed-up on the dominant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4976" y="5102351"/>
            <a:ext cx="13441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≈ 1800×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5321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E8B54A"/>
                </a:solidFill>
                <a:latin typeface="Segoe UI"/>
              </a:rPr>
              <a:t>That reduction is the whole difference between choosing hosts by </a:t>
            </a:r>
            <a:r>
              <a:rPr sz="1150" b="1">
                <a:solidFill>
                  <a:srgbClr val="E8B54A"/>
                </a:solidFill>
                <a:latin typeface="Segoe UI"/>
              </a:rPr>
              <a:t>optimisation</a:t>
            </a:r>
            <a:r>
              <a:rPr sz="1150" b="0">
                <a:solidFill>
                  <a:srgbClr val="E8B54A"/>
                </a:solidFill>
                <a:latin typeface="Segoe UI"/>
              </a:rPr>
              <a:t> and choosing them by coin flip.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second stage, and the metric that hid the bug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Our renders scored 0.845 on IoU and still looked wrong.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Both were true. </a:t>
            </a:r>
            <a:r>
              <a:rPr sz="1250" b="1">
                <a:solidFill>
                  <a:srgbClr val="E8B54A"/>
                </a:solidFill>
                <a:latin typeface="Segoe UI"/>
              </a:rPr>
              <a:t>IoU scores the outline of a shape</a:t>
            </a:r>
            <a:r>
              <a:rPr sz="1250" b="0">
                <a:solidFill>
                  <a:srgbClr val="92969C"/>
                </a:solidFill>
                <a:latin typeface="Segoe UI"/>
              </a:rPr>
              <a:t>, so a face that is correctly shaped and uniformly crushed to black scores well. The silhouettes were right; the interiors were solid.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The cause was structural. Each fragment picked its tone from its own view's target, before anything was known about what else would occupy the same beam — and with 93% of fragments serving all three views, transmittances multiply. Mid-grey skin arrives as black.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F2F2F0"/>
                </a:solidFill>
                <a:latin typeface="Segoe UI"/>
              </a:rPr>
              <a:t>First fix — and it failed.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2969C"/>
                </a:solidFill>
                <a:latin typeface="Segoe UI"/>
              </a:rPr>
              <a:t>Radiometric pre-compensation: divide the stray light out of the target and re-solve. Standard practice in projector-camera systems. It </a:t>
            </a:r>
            <a:r>
              <a:rPr sz="1250" b="1">
                <a:solidFill>
                  <a:srgbClr val="E8B54A"/>
                </a:solidFill>
                <a:latin typeface="Segoe UI"/>
              </a:rPr>
              <a:t>oscillated</a:t>
            </a:r>
            <a:r>
              <a:rPr sz="1250" b="0">
                <a:solidFill>
                  <a:srgbClr val="92969C"/>
                </a:solidFill>
                <a:latin typeface="Segoe UI"/>
              </a:rPr>
              <a:t> — 0.690 → 0.598 → 0.665 → 0.641 — because re-solving changes which fragments exist, which changes the stray light, which changes the target. A fixed point with no reason to contract.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737360"/>
            <a:ext cx="5029200" cy="26974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12280" y="1920240"/>
            <a:ext cx="448056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What worked: freeze the geometry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92969C"/>
                </a:solidFill>
                <a:latin typeface="Segoe UI"/>
              </a:rPr>
              <a:t>Fragment shapes and host assignments are fixed. The only free variables left are the </a:t>
            </a:r>
            <a:r>
              <a:rPr sz="1200" b="1">
                <a:solidFill>
                  <a:srgbClr val="E8B54A"/>
                </a:solidFill>
                <a:latin typeface="Segoe UI"/>
              </a:rPr>
              <a:t>four discrete tone levels</a:t>
            </a:r>
            <a:r>
              <a:rPr sz="1200" b="0">
                <a:solidFill>
                  <a:srgbClr val="92969C"/>
                </a:solidFill>
                <a:latin typeface="Segoe UI"/>
              </a:rPr>
              <a:t>. That turns an ill-posed fixed point into plain </a:t>
            </a:r>
            <a:r>
              <a:rPr sz="1200" b="1">
                <a:solidFill>
                  <a:srgbClr val="E8B54A"/>
                </a:solidFill>
                <a:latin typeface="Segoe UI"/>
              </a:rPr>
              <a:t>coordinate descent</a:t>
            </a:r>
            <a:r>
              <a:rPr sz="1200" b="0">
                <a:solidFill>
                  <a:srgbClr val="92969C"/>
                </a:solidFill>
                <a:latin typeface="Segoe UI"/>
              </a:rPr>
              <a:t>: sweep one sheet at a time, try all four tones, keep the best.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Every sweep is monotone by construction, because a sweep only accepts a change that lowers the loss.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4480560"/>
            <a:ext cx="5029200" cy="274320"/>
          </a:xfrm>
          <a:prstGeom prst="rect">
            <a:avLst/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65976" y="451713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Sweep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0376" y="451713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composite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9136" y="451713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mean IoU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23576" y="451713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pixels 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479145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0376" y="479145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0.7684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479145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23576" y="479145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5029200"/>
            <a:ext cx="5029200" cy="274320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65976" y="506577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506577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0.7980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506577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23576" y="506577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190,057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534009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0376" y="534009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534009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3576" y="534009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46,816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5577840"/>
            <a:ext cx="5029200" cy="274320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65976" y="561441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561441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9136" y="561441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23576" y="561441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588873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0376" y="588873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0.8021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9136" y="588873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23576" y="588873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1,498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6126480"/>
            <a:ext cx="5029200" cy="274320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65976" y="6163056"/>
            <a:ext cx="658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0376" y="6163056"/>
            <a:ext cx="1252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0.8021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6163056"/>
            <a:ext cx="978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3576" y="6163056"/>
            <a:ext cx="11155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641908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score </a:t>
            </a:r>
            <a:r>
              <a:rPr sz="1050" b="1">
                <a:solidFill>
                  <a:srgbClr val="E8B54A"/>
                </a:solidFill>
                <a:latin typeface="Segoe UI"/>
              </a:rPr>
              <a:t>+0.0337</a:t>
            </a:r>
            <a:r>
              <a:rPr sz="1050" b="0">
                <a:solidFill>
                  <a:srgbClr val="92969C"/>
                </a:solidFill>
                <a:latin typeface="Segoe UI"/>
              </a:rPr>
              <a:t>  ·  mean IoU </a:t>
            </a:r>
            <a:r>
              <a:rPr sz="1050" b="1">
                <a:solidFill>
                  <a:srgbClr val="E8B54A"/>
                </a:solidFill>
                <a:latin typeface="Segoe UI"/>
              </a:rPr>
              <a:t>+0.0024</a:t>
            </a:r>
            <a:r>
              <a:rPr sz="1050" b="0">
                <a:solidFill>
                  <a:srgbClr val="92969C"/>
                </a:solidFill>
                <a:latin typeface="Segoe UI"/>
              </a:rPr>
              <a:t>  ·  the faces went from crushed to readable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Choosing the design, and the two rules that reversed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2_le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33" y="1691640"/>
            <a:ext cx="6454588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737360"/>
            <a:ext cx="374903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>
                <a:solidFill>
                  <a:srgbClr val="E8B54A"/>
                </a:solidFill>
                <a:latin typeface="Segoe UI"/>
              </a:rPr>
              <a:t>We swept the design, not the solver.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8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Sheet count, pitch, engrave alphabet, damage weight and fragment size — </a:t>
            </a:r>
            <a:r>
              <a:rPr sz="1150" b="1">
                <a:solidFill>
                  <a:srgbClr val="E8B54A"/>
                </a:solidFill>
                <a:latin typeface="Segoe UI"/>
              </a:rPr>
              <a:t>two seeds per point</a:t>
            </a:r>
            <a:r>
              <a:rPr sz="1150" b="0">
                <a:solidFill>
                  <a:srgbClr val="92969C"/>
                </a:solidFill>
                <a:latin typeface="Segoe UI"/>
              </a:rPr>
              <a:t>, accepted on a composite of mean IoU, worst view and SSIM rather than on IoU alone.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Pitch wanted to open, not tighten.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8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Tight stacking was right when sheets were many. At six, </a:t>
            </a:r>
            <a:r>
              <a:rPr sz="1150" b="1">
                <a:solidFill>
                  <a:srgbClr val="E8B54A"/>
                </a:solidFill>
                <a:latin typeface="Segoe UI"/>
              </a:rPr>
              <a:t>50 mm</a:t>
            </a:r>
            <a:r>
              <a:rPr sz="1150" b="0">
                <a:solidFill>
                  <a:srgbClr val="92969C"/>
                </a:solidFill>
                <a:latin typeface="Segoe UI"/>
              </a:rPr>
              <a:t> takes the worst view from 0.785 to 0.816 and drives cross-talk to zero. 100 mm collapses it again.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The engrave alphabet wanted to go light.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8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Eighteen pale layers multiply into darkness, so the tones must be dark. With two layers per view there is little left to multiply, and a dark alphabet overshoots. We ship </a:t>
            </a:r>
            <a:r>
              <a:rPr sz="1150" b="1">
                <a:solidFill>
                  <a:srgbClr val="E8B54A"/>
                </a:solidFill>
                <a:latin typeface="Segoe UI"/>
              </a:rPr>
              <a:t>0.85 / 0.62 / 0.35</a:t>
            </a:r>
            <a:r>
              <a:rPr sz="1150" b="0">
                <a:solidFill>
                  <a:srgbClr val="92969C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And one lever turned out not to be a lever: the damage weight gave </a:t>
            </a:r>
            <a:r>
              <a:rPr sz="1150" b="1">
                <a:solidFill>
                  <a:srgbClr val="E8B54A"/>
                </a:solidFill>
                <a:latin typeface="Segoe UI"/>
              </a:rPr>
              <a:t>identical scores to four decimals</a:t>
            </a:r>
            <a:r>
              <a:rPr sz="1150" b="0">
                <a:solidFill>
                  <a:srgbClr val="92969C"/>
                </a:solidFill>
                <a:latin typeface="Segoe UI"/>
              </a:rPr>
              <a:t> for every non-zero value. It is a switch, not a dial.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FABRICATION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From a solved field to files a laser can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8B54A"/>
                </a:solidFill>
                <a:latin typeface="Segoe UI"/>
              </a:rPr>
              <a:t>Vectorisation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4028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1.  Threshold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Each sheet's solved field is split into the four tone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26664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2.  Minimum feature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Morphological opening then closing at the cuttable radius — this is where the penumbra bound becomes physical geometry.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130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3.  Contour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Regions become polygons in sheet-local millimetres.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99432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4.  Kerf offset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Every ring is grown by half the beam width, so the finished part is nominal size after the laser eats the edge.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440680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5650992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Layer order: ENG_L → ENG_D → ENG_K → CUT_SLOT → CUT_OUTLINE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Engrave first, cut last. Cutting the outline first leaves a compliant part that lifts and defocuses.</a:t>
            </a:r>
          </a:p>
        </p:txBody>
      </p:sp>
      <p:pic>
        <p:nvPicPr>
          <p:cNvPr id="12" name="Picture 11" descr="4_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817582"/>
            <a:ext cx="5303520" cy="9485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983480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8B54A"/>
                </a:solidFill>
                <a:latin typeface="Segoe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983480"/>
            <a:ext cx="3931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sheets, 295.8 mm square, 3 mm clear acrylic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248656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8B54A"/>
                </a:solidFill>
                <a:latin typeface="Segoe UI"/>
              </a:rPr>
              <a:t>3,629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248656"/>
            <a:ext cx="3931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engraved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513832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8B54A"/>
                </a:solidFill>
                <a:latin typeface="Sego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513832"/>
            <a:ext cx="3931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tone levels — clear, 0.85, 0.62, 0.35 transmittance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77900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8B54A"/>
                </a:solidFill>
                <a:latin typeface="Segoe UI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779008"/>
            <a:ext cx="3931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half-lap joints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6044184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8B54A"/>
                </a:solidFill>
                <a:latin typeface="Segoe UI"/>
              </a:rPr>
              <a:t>3.46 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6044184"/>
            <a:ext cx="3931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widest slot on 3.0 mm stock, at 60° crossing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FABRICATION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Fabrication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554147" cy="329184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8096" y="3063239"/>
            <a:ext cx="233469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examples/photos/fab_01_engraving.jpg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Laser engraving the tone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971" y="1828800"/>
            <a:ext cx="2554147" cy="329184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41699" y="3063239"/>
            <a:ext cx="233469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examples/photos/fab_02_sheets_flat.jpg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The six sheets, cut and unassembled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5575" y="1828800"/>
            <a:ext cx="2554147" cy="329184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15303" y="3063239"/>
            <a:ext cx="233469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examples/photos/fab_03_assembly.jpg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Slotting the weave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9" y="1828800"/>
            <a:ext cx="2554147" cy="329184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088907" y="3063239"/>
            <a:ext cx="233469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examples/photos/fab_04_object.jpg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The finished 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4924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Material: 3 mm clear cast acrylic. The four tones are engraving depths on one material — no dye, no lamination, no thickness variation.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The three tone levels are specified as optical transmittance, not as laser power and speed, because those differ per machine and per batch. Calibrating them against a step wedge on scrap is the single most likely way to get a disappointing result from correct files.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artefact, and the shadows it actually casts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840480" cy="41605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8096" y="3451859"/>
            <a:ext cx="362102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examples/photos/fab_04_object.jpg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The assembly — roughly 30 × 30 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73168" y="1783080"/>
            <a:ext cx="2119274" cy="41605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82896" y="3451859"/>
            <a:ext cx="18998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examples/photos/shadow_front.jpg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93610" y="1783080"/>
            <a:ext cx="2119274" cy="41605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03338" y="3451859"/>
            <a:ext cx="18998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examples/photos/shadow_side.jpg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Profile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4052" y="1783080"/>
            <a:ext cx="2119274" cy="41605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23780" y="3451859"/>
            <a:ext cx="18998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2969C"/>
                </a:solidFill>
                <a:latin typeface="Segoe UI"/>
              </a:rPr>
              <a:t>examples/photos/shadow_back.jpg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8076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Same object, same lamp. Only the rotation changes.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THE PROJECT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Results, and how we verified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2540431" cy="12801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1938528"/>
            <a:ext cx="2138095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600" b="0">
                <a:solidFill>
                  <a:srgbClr val="E8B54A"/>
                </a:solidFill>
                <a:latin typeface="Segoe UI"/>
              </a:rPr>
              <a:t>0.846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mean IoU across the three 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6543" y="1737360"/>
            <a:ext cx="2540431" cy="12801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7711" y="1938528"/>
            <a:ext cx="2138095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600" b="0">
                <a:solidFill>
                  <a:srgbClr val="E8B54A"/>
                </a:solidFill>
                <a:latin typeface="Segoe UI"/>
              </a:rPr>
              <a:t>0.836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worst single view — we optimise this too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4719" y="1737360"/>
            <a:ext cx="2540431" cy="12801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15887" y="1938528"/>
            <a:ext cx="2138095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600" b="0">
                <a:solidFill>
                  <a:srgbClr val="E8B54A"/>
                </a:solidFill>
                <a:latin typeface="Segoe UI"/>
              </a:rPr>
              <a:t>0.751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mean SSIM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2895" y="1737360"/>
            <a:ext cx="2540431" cy="128016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94063" y="1938528"/>
            <a:ext cx="2138095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600" b="0">
                <a:solidFill>
                  <a:srgbClr val="E8B54A"/>
                </a:solidFill>
                <a:latin typeface="Segoe UI"/>
              </a:rPr>
              <a:t>−0.005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cross-talk — constructive, not destructive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4612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Three gates, all required to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57600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A — mechanical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Every joint checked for crossing angle, slot width against material thickness, and impossible triple junctions.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407408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B — fabrication round trip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Re-rendered from the exported polygons rather than the solver's raster. Cost: +0.0018 IoU.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157216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C — ablation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Each sheet deleted in turn. 0 of 6 idle; drops range 0.052 to 0.166.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What the six-sheet constraint cost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657600"/>
            <a:ext cx="4983480" cy="310896"/>
          </a:xfrm>
          <a:prstGeom prst="rect">
            <a:avLst/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11696" y="3712463"/>
            <a:ext cx="20756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9043416" y="3712463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6 sheets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9296" y="3712463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2969C"/>
                </a:solidFill>
                <a:latin typeface="Segoe UI"/>
              </a:rPr>
              <a:t>18 sheets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1696" y="4023359"/>
            <a:ext cx="20756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mean IoU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4023359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9296" y="4023359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279392"/>
            <a:ext cx="4983480" cy="310896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11696" y="4334255"/>
            <a:ext cx="20756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worst 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43416" y="4334255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9296" y="4334255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0.871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6" y="4645151"/>
            <a:ext cx="20756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cut files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43416" y="4645151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9296" y="4645151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37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4901184"/>
            <a:ext cx="4983480" cy="310896"/>
          </a:xfrm>
          <a:prstGeom prst="rect">
            <a:avLst/>
          </a:prstGeom>
          <a:solidFill>
            <a:srgbClr val="17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711696" y="4956048"/>
            <a:ext cx="20756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joints to assemble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3416" y="4956048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9296" y="4956048"/>
            <a:ext cx="10698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108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440680"/>
            <a:ext cx="4983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Six sheets costs about 4% accuracy and removes </a:t>
            </a:r>
            <a:r>
              <a:rPr sz="1150" b="1">
                <a:solidFill>
                  <a:srgbClr val="E8B54A"/>
                </a:solidFill>
                <a:latin typeface="Segoe UI"/>
              </a:rPr>
              <a:t>96 assembly joints</a:t>
            </a:r>
            <a:r>
              <a:rPr sz="1150" b="0">
                <a:solidFill>
                  <a:srgbClr val="92969C"/>
                </a:solidFill>
                <a:latin typeface="Segoe UI"/>
              </a:rPr>
              <a:t>. Every joint is an independent chance to misalign the whole piece, so we would make that trade again.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GENERALITY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The method is not specific to this painting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review_w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72171"/>
            <a:ext cx="3454298" cy="24393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791456"/>
            <a:ext cx="345429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Three facial expressions — distinctness 0.97</a:t>
            </a:r>
          </a:p>
        </p:txBody>
      </p:sp>
      <p:pic>
        <p:nvPicPr>
          <p:cNvPr id="7" name="Picture 6" descr="preview_wa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090" y="1828800"/>
            <a:ext cx="2755514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68698" y="4791456"/>
            <a:ext cx="345429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Two institutional logos</a:t>
            </a:r>
          </a:p>
        </p:txBody>
      </p:sp>
      <p:pic>
        <p:nvPicPr>
          <p:cNvPr id="9" name="Picture 8" descr="wa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535" y="1828800"/>
            <a:ext cx="2905285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9028" y="4791456"/>
            <a:ext cx="345429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Hokusai series — subtractive colour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257800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F2F2F0"/>
                </a:solidFill>
                <a:latin typeface="Segoe UI"/>
              </a:rPr>
              <a:t>The same solver produced all of these. Over the semester we ran it across portraits, faces, logos, still lifes and landscapes, plus a 174-run study characterising cross-talk noise.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The limits are known and documented: subjects must be centred on a plain background, and full-frame paintings do not work — there is no silhouette to carry.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Live demo — parametric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577840" cy="39319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01168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What to show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Sheet count and spacing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Lamp distance and source radius → penumbra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Fragment size and shard budget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The four engrave tone levels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Stop angles and grid phase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Every one of these is already a field on the BuildConfig dataclass; a complete re-solve takes 21.6 seconds on the GPU.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783080"/>
            <a:ext cx="5120640" cy="39319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56248" y="3337559"/>
            <a:ext cx="490118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examples/photos/demo_ui.png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Screen recording or live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16752"/>
            <a:ext cx="10874959" cy="457200"/>
          </a:xfrm>
          <a:prstGeom prst="roundRect">
            <a:avLst>
              <a:gd name="adj" fmla="val 4000"/>
            </a:avLst>
          </a:prstGeom>
          <a:solidFill>
            <a:srgbClr val="3A2A12"/>
          </a:solidFill>
          <a:ln w="12700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" y="61356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TEMPLATE SLIDE — REPLACE BEFORE PRESENTING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CAD interoperability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577840" cy="393192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01168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What exists today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Per-vertex-coloured </a:t>
            </a:r>
            <a:r>
              <a:rPr sz="1250" b="1">
                <a:solidFill>
                  <a:srgbClr val="E8B54A"/>
                </a:solidFill>
                <a:latin typeface="Segoe UI"/>
              </a:rPr>
              <a:t>OBJ</a:t>
            </a:r>
            <a:r>
              <a:rPr sz="1250" b="0">
                <a:solidFill>
                  <a:srgbClr val="F2F2F0"/>
                </a:solidFill>
                <a:latin typeface="Segoe UI"/>
              </a:rPr>
              <a:t> of the full assembly, opening cleanly in Rhino, Blender and MeshLab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</a:t>
            </a:r>
            <a:r>
              <a:rPr sz="1250" b="1">
                <a:solidFill>
                  <a:srgbClr val="E8B54A"/>
                </a:solidFill>
                <a:latin typeface="Segoe UI"/>
              </a:rPr>
              <a:t>PLY</a:t>
            </a:r>
            <a:r>
              <a:rPr sz="1250" b="0">
                <a:solidFill>
                  <a:srgbClr val="F2F2F0"/>
                </a:solidFill>
                <a:latin typeface="Segoe UI"/>
              </a:rPr>
              <a:t> export for the same geometry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Layered </a:t>
            </a:r>
            <a:r>
              <a:rPr sz="1250" b="1">
                <a:solidFill>
                  <a:srgbClr val="E8B54A"/>
                </a:solidFill>
                <a:latin typeface="Segoe UI"/>
              </a:rPr>
              <a:t>DXF</a:t>
            </a:r>
            <a:r>
              <a:rPr sz="1250" b="0">
                <a:solidFill>
                  <a:srgbClr val="F2F2F0"/>
                </a:solidFill>
                <a:latin typeface="Segoe UI"/>
              </a:rPr>
              <a:t> and </a:t>
            </a:r>
            <a:r>
              <a:rPr sz="1250" b="1">
                <a:solidFill>
                  <a:srgbClr val="E8B54A"/>
                </a:solidFill>
                <a:latin typeface="Segoe UI"/>
              </a:rPr>
              <a:t>SVG</a:t>
            </a:r>
            <a:r>
              <a:rPr sz="1250" b="0">
                <a:solidFill>
                  <a:srgbClr val="F2F2F0"/>
                </a:solidFill>
                <a:latin typeface="Segoe UI"/>
              </a:rPr>
              <a:t> per sheet, ready for the laser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· An orbitable </a:t>
            </a:r>
            <a:r>
              <a:rPr sz="1250" b="1">
                <a:solidFill>
                  <a:srgbClr val="E8B54A"/>
                </a:solidFill>
                <a:latin typeface="Segoe UI"/>
              </a:rPr>
              <a:t>3D scene</a:t>
            </a:r>
            <a:r>
              <a:rPr sz="1250" b="0">
                <a:solidFill>
                  <a:srgbClr val="F2F2F0"/>
                </a:solidFill>
                <a:latin typeface="Segoe UI"/>
              </a:rPr>
              <a:t> in the browser showing sheets, lamps, rays and the three projected walls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There is no Grasshopper component yet. The solver is a Python library with a fully parametric configuration object, which is what a component would wrap — see the future-work slide.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783080"/>
            <a:ext cx="5120640" cy="393192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56248" y="3337559"/>
            <a:ext cx="490118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examples/photos/scene_3d.png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The interactive 3D scene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16752"/>
            <a:ext cx="10874959" cy="457200"/>
          </a:xfrm>
          <a:prstGeom prst="roundRect">
            <a:avLst>
              <a:gd name="adj" fmla="val 4000"/>
            </a:avLst>
          </a:prstGeom>
          <a:solidFill>
            <a:srgbClr val="3A2A12"/>
          </a:solidFill>
          <a:ln w="12700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" y="61356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TEMPLATE SLIDE — REPLACE BEFORE PRESENTING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Project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6766560" cy="4114800"/>
          </a:xfrm>
          <a:prstGeom prst="roundRect">
            <a:avLst>
              <a:gd name="adj" fmla="val 3000"/>
            </a:avLst>
          </a:prstGeom>
          <a:solidFill>
            <a:srgbClr val="1C2026"/>
          </a:solidFill>
          <a:ln w="15875">
            <a:solidFill>
              <a:srgbClr val="E8B5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8096" y="3429000"/>
            <a:ext cx="654710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B54A"/>
                </a:solidFill>
                <a:latin typeface="Segoe UI"/>
              </a:rPr>
              <a:t>DROP PHOTO HERE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examples/photos/video_still.png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2969C"/>
                </a:solidFill>
                <a:latin typeface="Segoe UI"/>
              </a:rPr>
              <a:t>30–40 second summary video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783080"/>
            <a:ext cx="3931920" cy="411480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82127" y="2011680"/>
            <a:ext cx="3429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Suggested cut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0:00  the six sheets, flat on the bench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0:06  assembly — slotting the weave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0:12  lamp on, first portrait resolves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0:20  slow rotation, shadow morphs to the profile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0:28  continues to the back view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2F2F0"/>
                </a:solidFill>
                <a:latin typeface="Segoe UI"/>
              </a:rPr>
              <a:t>0:34  title card and names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Shot on the real object under a small bright lamp in a dark room. The continuous rotation is the shot that sells the piece.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16752"/>
            <a:ext cx="10874959" cy="457200"/>
          </a:xfrm>
          <a:prstGeom prst="roundRect">
            <a:avLst>
              <a:gd name="adj" fmla="val 4000"/>
            </a:avLst>
          </a:prstGeom>
          <a:solidFill>
            <a:srgbClr val="3A2A12"/>
          </a:solidFill>
          <a:ln w="12700">
            <a:solidFill>
              <a:srgbClr val="E8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" y="61356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B54A"/>
                </a:solidFill>
                <a:latin typeface="Segoe UI"/>
              </a:rPr>
              <a:t>TEMPLATE SLIDE — REPLACE BEFORE PRESENTING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What the semester actually taught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5318607" cy="22402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1993391"/>
            <a:ext cx="476996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A measured rule is only valid over the range it was measured 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Both of our design rules reversed when we cut from eighteen sheets to six. Neither had been measured badly. Both had been measured while another variable was pinned by a constraint that then went away. This is a confounding failure, and it is not detectable from inside the original experiment.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1755648"/>
            <a:ext cx="5318607" cy="22402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89039" y="1993391"/>
            <a:ext cx="476996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A gate that only ever passes is not a gate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Our ablation check earned its place the day it contradicted us. One sheet carried 32 engraved regions against ~990 on its neighbours and looked like a blank. It has the </a:t>
            </a:r>
            <a:r>
              <a:rPr sz="1150" b="1">
                <a:solidFill>
                  <a:srgbClr val="E8B54A"/>
                </a:solidFill>
                <a:latin typeface="Segoe UI"/>
              </a:rPr>
              <a:t>largest</a:t>
            </a:r>
            <a:r>
              <a:rPr sz="1150" b="0">
                <a:solidFill>
                  <a:srgbClr val="92969C"/>
                </a:solidFill>
                <a:latin typeface="Segoe UI"/>
              </a:rPr>
              <a:t> ablation drop of all six. Region count is not contribution.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33087"/>
            <a:ext cx="5318607" cy="22402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370831"/>
            <a:ext cx="476996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The right thing to differentiate is the wrong thing to accept 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MSE is smooth and gives a usable descent direction, so we propose with it. Optimising it to convergence produces flat, low-contrast solutions that score well and look worse — so acceptance is judged on a composite objective instead.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4133087"/>
            <a:ext cx="5318607" cy="2240280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9039" y="4370831"/>
            <a:ext cx="4769967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E8B54A"/>
                </a:solidFill>
                <a:latin typeface="Segoe UI"/>
              </a:rPr>
              <a:t>Report a metric with the thing it is blind to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2969C"/>
                </a:solidFill>
                <a:latin typeface="Segoe UI"/>
              </a:rPr>
              <a:t>IoU scores silhouettes. Across the entire re-toning stage — the stage that took the faces from crushed to readable — it moved by </a:t>
            </a:r>
            <a:r>
              <a:rPr sz="1150" b="1">
                <a:solidFill>
                  <a:srgbClr val="E8B54A"/>
                </a:solidFill>
                <a:latin typeface="Segoe UI"/>
              </a:rPr>
              <a:t>+0.0024</a:t>
            </a:r>
            <a:r>
              <a:rPr sz="1150" b="0">
                <a:solidFill>
                  <a:srgbClr val="92969C"/>
                </a:solidFill>
                <a:latin typeface="Segoe UI"/>
              </a:rPr>
              <a:t>. It was not wrong; it was answering a different question. We now never report it without SSIM and an edge term beside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E8B54A"/>
                </a:solidFill>
                <a:latin typeface="Segoe UI"/>
              </a:rP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2F2F0"/>
                </a:solidFill>
                <a:latin typeface="Segoe UI"/>
              </a:rPr>
              <a:t>Where this goes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005840" cy="25603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1975104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Look ahead, not just forward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Host assignment is a single greedy pass in fragment order — no lookahead, no revisiting. A fragment placed early cannot move once later fragments reveal a better arrangement. Beam search, or a second reassignment pass conditioned on the realised stray field, is the obvious next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506" y="1755648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94250" y="1975104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Blue-noise tone quantisation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Fragment boundaries still correlate weakly along the vertical axis, producing faint streaks. Error diffusion with a blue-noise mask in the re-toning stage is the standard halftoning answer and is not yet implemented.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4644" y="1755648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2388" y="1975104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Subtractive colour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The renderer already composites CMYK transmittances, and we have colour builds. Extending the three-view turntable to colour means each fragment carries a channel stack as well as a host, which enlarges the assignment problem considerably.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059935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6112" y="4279392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Continuous rotation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Three stops is a design choice, not a limit. Supervising intermediate angles would turn the piece from three portraits into a genuine animation — a face that turns rather than three faces that swap.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506" y="4059935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94250" y="4279392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A real parametric front end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The configuration object is already fully parametric and a solve takes 21.6 seconds. A slider interface, and a Grasshopper component wrapping the same library, would put the design loop in a designer's hands rather than a programmer's.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4059935"/>
            <a:ext cx="3478682" cy="2176272"/>
          </a:xfrm>
          <a:prstGeom prst="roundRect">
            <a:avLst>
              <a:gd name="adj" fmla="val 4000"/>
            </a:avLst>
          </a:prstGeom>
          <a:solidFill>
            <a:srgbClr val="1C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92388" y="4279392"/>
            <a:ext cx="30031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>
                <a:solidFill>
                  <a:srgbClr val="E8B54A"/>
                </a:solidFill>
                <a:latin typeface="Segoe UI"/>
              </a:rPr>
              <a:t>Scale and material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2969C"/>
                </a:solidFill>
                <a:latin typeface="Segoe UI"/>
              </a:rPr>
              <a:t>Everything here is 3 mm acrylic at 30 cm. The optics scale, but penumbra and minimum feature scale differently, so a larger or a thinner build is a genuine re-optimisation rather than a resize.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0"/>
                </a:solidFill>
                <a:latin typeface="Segoe UI"/>
              </a:rPr>
              <a:t>Code, cut files and the full decision record: </a:t>
            </a:r>
            <a:r>
              <a:rPr sz="1250" b="1">
                <a:solidFill>
                  <a:srgbClr val="E8B54A"/>
                </a:solidFill>
                <a:latin typeface="Segoe UI"/>
              </a:rPr>
              <a:t>github.com/shathan18/school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