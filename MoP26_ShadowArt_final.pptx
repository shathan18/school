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[0:00-0:30] Open with the object in hand, not the slide.</a:t>
            </a:r>
          </a:p>
          <a:p/>
          <a:p>
            <a:r>
              <a:t>"This is one object. It is six sheets of clear acrylic, engraved with a laser, slotted</a:t>
            </a:r>
          </a:p>
          <a:p>
            <a:r>
              <a:t>together. On its own it looks like noise. Put a lamp behind it and it throws a portrait on</a:t>
            </a:r>
          </a:p>
          <a:p>
            <a:r>
              <a:t>the wall. Turn it 120 degrees and you get the same person from the side. Turn it again and</a:t>
            </a:r>
          </a:p>
          <a:p>
            <a:r>
              <a:t>you get the back of her head."</a:t>
            </a:r>
          </a:p>
          <a:p/>
          <a:p>
            <a:r>
              <a:t>Then start the deck. Do not read the title slide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[0:30-1:00] Thirty seconds. One line each.</a:t>
            </a:r>
          </a:p>
          <a:p/>
          <a:p>
            <a:r>
              <a:t>The point worth landing: this is a CS/Architecture collaboration, and the fabrication</a:t>
            </a:r>
          </a:p>
          <a:p>
            <a:r>
              <a:t>constraints were in the optimiser from the beginning rather than applied afterwards. That is</a:t>
            </a:r>
          </a:p>
          <a:p>
            <a:r>
              <a:t>what the third bullet on the results slide is about.</a:t>
            </a:r>
          </a:p>
          <a:p/>
          <a:p>
            <a:r>
              <a:t>TODO BEFORE PRESENTING: fill in the three "Interests" lines and Shadha's surname.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[1:00-1:40]</a:t>
            </a:r>
          </a:p>
          <a:p/>
          <a:p>
            <a:r>
              <a:t>"Vermeer's Girl with a Pearl Earring. We want three views of her — front, profile, back —</a:t>
            </a:r>
          </a:p>
          <a:p>
            <a:r>
              <a:t>out of one object on a turntable, with a fixed lamp.</a:t>
            </a:r>
          </a:p>
          <a:p/>
          <a:p>
            <a:r>
              <a:t>The image on the right is not a photograph and it is not a mock-up. It is what our solution</a:t>
            </a:r>
          </a:p>
          <a:p>
            <a:r>
              <a:t>computes the wall will look like, from the same geometry we then cut."</a:t>
            </a:r>
          </a:p>
          <a:p/>
          <a:p>
            <a:r>
              <a:t>Do not explain the algorithm yet. Just establish the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[1:40-2:40] Yahel opens this one — it is the architecture half of the story.</a:t>
            </a:r>
          </a:p>
          <a:p/>
          <a:p>
            <a:r>
              <a:t>"We did not start here. We started wanting to hang fragments from the ceiling, and we built</a:t>
            </a:r>
          </a:p>
          <a:p>
            <a:r>
              <a:t>it in Rhino and Grasshopper because that is what you use.</a:t>
            </a:r>
          </a:p>
          <a:p/>
          <a:p>
            <a:r>
              <a:t>Two things pushed us off that. Grasshopper is a dataflow evaluator — it recomputes a graph.</a:t>
            </a:r>
          </a:p>
          <a:p>
            <a:r>
              <a:t>It is not an optimiser, it has no GPU and no gradients, and we needed to run hundreds of</a:t>
            </a:r>
          </a:p>
          <a:p>
            <a:r>
              <a:t>solves. So we wrote our own renderer and our own 3D viewer in the browser, and stopped</a:t>
            </a:r>
          </a:p>
          <a:p>
            <a:r>
              <a:t>needing a CAD licence at all.</a:t>
            </a:r>
          </a:p>
          <a:p/>
          <a:p>
            <a:r>
              <a:t>And once we could actually see the thing, the hanging design lost. It became six flat sheets</a:t>
            </a:r>
          </a:p>
          <a:p>
            <a:r>
              <a:t>that slot into each other — no thread, no hardware in the beam, and the whole object comes</a:t>
            </a:r>
          </a:p>
          <a:p>
            <a:r>
              <a:t>off a laser bed.</a:t>
            </a:r>
          </a:p>
          <a:p/>
          <a:p>
            <a:r>
              <a:t>That last move is the one that matters for the algorithm, because depth stopped being a</a:t>
            </a:r>
          </a:p>
          <a:p>
            <a:r>
              <a:t>continuous variable. A fragment now picks a discrete sheet. That is the problem we spent the</a:t>
            </a:r>
          </a:p>
          <a:p>
            <a:r>
              <a:t>rest of the semester on."</a:t>
            </a:r>
          </a:p>
          <a:p/>
          <a:p>
            <a:r>
              <a:t>Do not apologise for the dead ends. This is the "main challenges" item on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[2:40-3:20] Forty seconds. Do not read the cards.</a:t>
            </a:r>
          </a:p>
          <a:p/>
          <a:p>
            <a:r>
              <a:t>Say only this: "Two of these are not applicable and one is — Baran. From Baran we take that</a:t>
            </a:r>
          </a:p>
          <a:p>
            <a:r>
              <a:t>the physics is multiplicative, and that because transmittances multiply, densities add, so</a:t>
            </a:r>
          </a:p>
          <a:p>
            <a:r>
              <a:t>your tone levels should be evenly spaced in density. That was worth about three IoU points.</a:t>
            </a:r>
          </a:p>
          <a:p>
            <a:r>
              <a:t>Hold that thought, because it reversed on us later."</a:t>
            </a:r>
          </a:p>
          <a:p/>
          <a:p>
            <a:r>
              <a:t>Then point at the right-hand column and give one sentence: "what is new is that the lamp</a:t>
            </a:r>
          </a:p>
          <a:p>
            <a:r>
              <a:t>never moves — the object turns — and that we price the interference between views instead of</a:t>
            </a:r>
          </a:p>
          <a:p>
            <a:r>
              <a:t>trying to suppress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[3:20-4:20] Slow down here. If the audience gets these three, everything after is easy.</a:t>
            </a:r>
          </a:p>
          <a:p/>
          <a:p>
            <a:r>
              <a:t>Obstacle 2 is the one to demonstrate with your hands — two flat palms, "half and half does</a:t>
            </a:r>
          </a:p>
          <a:p>
            <a:r>
              <a:t>not make black, it makes three-quarters."</a:t>
            </a:r>
          </a:p>
          <a:p/>
          <a:p>
            <a:r>
              <a:t>Land it: "so the naive design — one portrait per sheet — produces a black blob. We built it.</a:t>
            </a:r>
          </a:p>
          <a:p>
            <a:r>
              <a:t>It does."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[4:20-5:05] This is the conceptual centre of the talk.</a:t>
            </a:r>
          </a:p>
          <a:p/>
          <a:p>
            <a:r>
              <a:t>"Every piece of engraving casts a shadow for every view. That is normally the error term.</a:t>
            </a:r>
          </a:p>
          <a:p>
            <a:r>
              <a:t>But if a piece lands where another portrait also wanted darkness, that stray shadow is free</a:t>
            </a:r>
          </a:p>
          <a:p>
            <a:r>
              <a:t>work.</a:t>
            </a:r>
          </a:p>
          <a:p/>
          <a:p>
            <a:r>
              <a:t>So we stopped asking 'where do the front-view pieces go' and started asking 'where can a</a:t>
            </a:r>
          </a:p>
          <a:p>
            <a:r>
              <a:t>piece help all three views at once'."</a:t>
            </a:r>
          </a:p>
          <a:p/>
          <a:p>
            <a:r>
              <a:t>Then the numbers: "93% of our fragments serve all three portraits. And the measured</a:t>
            </a:r>
          </a:p>
          <a:p>
            <a:r>
              <a:t>cross-talk term is negative — the interference between the views makes the result better</a:t>
            </a:r>
          </a:p>
          <a:p>
            <a:r>
              <a:t>than solving them in isolation."</a:t>
            </a:r>
          </a:p>
          <a:p/>
          <a:p>
            <a:r>
              <a:t>That last number is the one to say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[5:05-5:35] Do not narrate all seven. Point at the chain, say "seven stages, targets in,</a:t>
            </a:r>
          </a:p>
          <a:p>
            <a:r>
              <a:t>cut files out", then go straight to:</a:t>
            </a:r>
          </a:p>
          <a:p/>
          <a:p>
            <a:r>
              <a:t>"Two of these are where the actual contribution is — assignment and re-toning. I want to</a:t>
            </a:r>
          </a:p>
          <a:p>
            <a:r>
              <a:t>spend the next two and a half minutes on those."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[5:35-7:05] THE slide. Ninety seconds, and do not rush it. Shadha takes this.</a:t>
            </a:r>
          </a:p>
          <a:p/>
          <a:p>
            <a:r>
              <a:t>Four beats:</a:t>
            </a:r>
          </a:p>
          <a:p>
            <a:r>
              <a:t>1. "The fragment's position in its own picture is already fixed by the optics. The only thing</a:t>
            </a:r>
          </a:p>
          <a:p>
            <a:r>
              <a:t>   still free is which sheet carries it — and that decides where its stray shadow falls on</a:t>
            </a:r>
          </a:p>
          <a:p>
            <a:r>
              <a:t>   the other two views."</a:t>
            </a:r>
          </a:p>
          <a:p>
            <a:r>
              <a:t>2. Walk the pseudocode with a finger. Gain, damage, argmax. Say "the whole contribution is</a:t>
            </a:r>
          </a:p>
          <a:p>
            <a:r>
              <a:t>   the one bold line."</a:t>
            </a:r>
          </a:p>
          <a:p>
            <a:r>
              <a:t>3. "In our first version the host was a random draw. Quality swung 14 to 37 percent on the</a:t>
            </a:r>
          </a:p>
          <a:p>
            <a:r>
              <a:t>   seed alone. It was random because scoring it properly means re-rendering a wall for every</a:t>
            </a:r>
          </a:p>
          <a:p>
            <a:r>
              <a:t>   fragment, every sheet, every other view — far too expensive."</a:t>
            </a:r>
          </a:p>
          <a:p>
            <a:r>
              <a:t>4. "So we never render. We compose the two homographies into one matrix that maps directly</a:t>
            </a:r>
          </a:p>
          <a:p>
            <a:r>
              <a:t>   from one wall to another, and transform a couple of hundred of the fragment's own pixels.</a:t>
            </a:r>
          </a:p>
          <a:p>
            <a:r>
              <a:t>   About eighteen hundred times cheaper — and that is the difference between optimising the</a:t>
            </a:r>
          </a:p>
          <a:p>
            <a:r>
              <a:t>   choice and guessing it."</a:t>
            </a:r>
          </a:p>
          <a:p/>
          <a:p>
            <a:r>
              <a:t>THERE IS A BACKUP SLIDE with the damage functional written out, its four limiting cases, and</a:t>
            </a:r>
          </a:p>
          <a:p>
            <a:r>
              <a:t>why greedy. Go to it if anyone asks how damage is actually defined, or whether the greedy is</a:t>
            </a:r>
          </a:p>
          <a:p>
            <a:r>
              <a:t>optimal. Do not pre-empt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[7:05-8:05] The second-strongest slide. It is the honest-failure slide, and panels reward it.</a:t>
            </a:r>
          </a:p>
          <a:p/>
          <a:p>
            <a:r>
              <a:t>"Our renders hit 0.845 on the standard metric and they looked wrong. Both of those were</a:t>
            </a:r>
          </a:p>
          <a:p>
            <a:r>
              <a:t>true at the same time, and that is the interesting part. IoU scores the outline of a shape. A</a:t>
            </a:r>
          </a:p>
          <a:p>
            <a:r>
              <a:t>face that is exactly the right shape and completely crushed to black scores well.</a:t>
            </a:r>
          </a:p>
          <a:p/>
          <a:p>
            <a:r>
              <a:t>We tried the textbook fix first — divide the stray light out of the target and re-solve. It</a:t>
            </a:r>
          </a:p>
          <a:p>
            <a:r>
              <a:t>oscillated. Re-solving changes which fragments exist, which changes the stray light, which</a:t>
            </a:r>
          </a:p>
          <a:p>
            <a:r>
              <a:t>changes the target.</a:t>
            </a:r>
          </a:p>
          <a:p/>
          <a:p>
            <a:r>
              <a:t>What worked was freezing the geometry entirely and only letting the tones move. That turns it</a:t>
            </a:r>
          </a:p>
          <a:p>
            <a:r>
              <a:t>into coordinate descent, which is monotone by construction. Look at the pixel counts — each</a:t>
            </a:r>
          </a:p>
          <a:p>
            <a:r>
              <a:t>sweep touches about a quarter of what the previous one did."</a:t>
            </a:r>
          </a:p>
          <a:p/>
          <a:p>
            <a:r>
              <a:t>IF ASKED ABOUT THE TABLE — this is the sharpest point on the slide, so offer it:</a:t>
            </a:r>
          </a:p>
          <a:p>
            <a:r>
              <a:t>the composite objective climbs +0.0337 across the descent while mean IoU moves</a:t>
            </a:r>
          </a:p>
          <a:p>
            <a:r>
              <a:t>+0.0024. The stage that rescued the faces is almost invisible to IoU. That is the</a:t>
            </a:r>
          </a:p>
          <a:p>
            <a:r>
              <a:t>same blindness that hid the bug, showing up again while we fixed it — which is why we now</a:t>
            </a:r>
          </a:p>
          <a:p>
            <a:r>
              <a:t>never report IoU without SSIM and an edge term beside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[8:05-8:55] Yahel's slide. Talk about the physical process, not the algorithm.</a:t>
            </a:r>
          </a:p>
          <a:p/>
          <a:p>
            <a:r>
              <a:t>The two non-obvious things, and they are the ones fabrication people react to:</a:t>
            </a:r>
          </a:p>
          <a:p/>
          <a:p>
            <a:r>
              <a:t>1. "Engrave before you cut. If you cut the outline first you are left with a floppy part that</a:t>
            </a:r>
          </a:p>
          <a:p>
            <a:r>
              <a:t>   lifts off the bed and defocuses the beam."</a:t>
            </a:r>
          </a:p>
          <a:p>
            <a:r>
              <a:t>2. "The tones are specified as transmittance, not as machine settings, so they have to be</a:t>
            </a:r>
          </a:p>
          <a:p>
            <a:r>
              <a:t>   calibrated against a step wedge on scrap first. Correct files on an uncalibrated machine</a:t>
            </a:r>
          </a:p>
          <a:p>
            <a:r>
              <a:t>   still give you a disappointing object."</a:t>
            </a:r>
          </a:p>
          <a:p/>
          <a:p>
            <a:r>
              <a:t>The vectorisation pipeline — threshold, minimum feature, contour, kerf offset — is a BACKUP</a:t>
            </a:r>
          </a:p>
          <a:p>
            <a:r>
              <a:t>slide. Go there only if asked how the raster becomes polygons.</a:t>
            </a:r>
          </a:p>
          <a:p/>
          <a:p>
            <a:r>
              <a:t>TODO: drop four photos into examples/photos/ and re-run make_deck.py.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[8:55-9:30] Let this one sit. Say the caption line and stop talking for a beat.</a:t>
            </a:r>
          </a:p>
          <a:p/>
          <a:p>
            <a:r>
              <a:t>If the room can be darkened, do this live with the object and a lamp instead of the slide —</a:t>
            </a:r>
          </a:p>
          <a:p>
            <a:r>
              <a:t>it is far more convincing than any photograph. Check the room in advance.</a:t>
            </a:r>
          </a:p>
          <a:p/>
          <a:p>
            <a:r>
              <a:t>TODO: drop the three shadow photos into examples/photos/.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[9:30-10:25]</a:t>
            </a:r>
          </a:p>
          <a:p/>
          <a:p>
            <a:r>
              <a:t>Lead with the worst-view number, not the mean: "we optimise the worst of the three views</a:t>
            </a:r>
          </a:p>
          <a:p>
            <a:r>
              <a:t>explicitly, because for a three-view piece the easiest way to cheat is to sacrifice one view</a:t>
            </a:r>
          </a:p>
          <a:p>
            <a:r>
              <a:t>to flatter the average."</a:t>
            </a:r>
          </a:p>
          <a:p/>
          <a:p>
            <a:r>
              <a:t>Gate C is worth thirty seconds — see the insights slide for the story about the sheet that</a:t>
            </a:r>
          </a:p>
          <a:p>
            <a:r>
              <a:t>looked idle and was not.</a:t>
            </a:r>
          </a:p>
          <a:p/>
          <a:p>
            <a:r>
              <a:t>The 6-vs-18 table pre-empts the obvious critique question ("why only six?"). Answer it before</a:t>
            </a:r>
          </a:p>
          <a:p>
            <a:r>
              <a:t>they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[10:25-10:45] Twenty seconds. This is the first slide to cut if you are over time.</a:t>
            </a:r>
          </a:p>
          <a:p/>
          <a:p>
            <a:r>
              <a:t>The honest caveat matters more than the gallery: "we know what it cannot do — the subject has</a:t>
            </a:r>
          </a:p>
          <a:p>
            <a:r>
              <a:t>to be centred on a plain background. Full-frame paintings have no silhouette to carry, and</a:t>
            </a:r>
          </a:p>
          <a:p>
            <a:r>
              <a:t>they fail."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[10:45-11:45] TEMPLATE — replace all three panels before presenting.</a:t>
            </a:r>
          </a:p>
          <a:p/>
          <a:p>
            <a:r>
              <a:t>One minute for the whole slide. Do the demo live if you can; if the room or the laptop is</a:t>
            </a:r>
          </a:p>
          <a:p>
            <a:r>
              <a:t>uncertain, play recordings. The fallback that always works is opening the interactive 3D</a:t>
            </a:r>
          </a:p>
          <a:p>
            <a:r>
              <a:t>scene in a browser and orbiting it — it reads well on a projector.</a:t>
            </a:r>
          </a:p>
          <a:p/>
          <a:p>
            <a:r>
              <a:t>Be direct about Grasshopper: there is no component. What exists is clean interop — OBJ, PLY,</a:t>
            </a:r>
          </a:p>
          <a:p>
            <a:r>
              <a:t>DXF, SVG — plus our own browser viewer, which is exactly why we built it (slide 4). The panel</a:t>
            </a:r>
          </a:p>
          <a:p>
            <a:r>
              <a:t>will respect "not yet, and here is what it would take" far more than a stretch.</a:t>
            </a:r>
          </a:p>
          <a:p/>
          <a:p>
            <a:r>
              <a:t>The video plays from a SEPARATE FILE, not embedded, and it is also a required Aug 9</a:t>
            </a:r>
          </a:p>
          <a:p>
            <a:r>
              <a:t>submission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[11:45-12:45] The closing argument. If you are over time, cut slides 5 and 14 to protect</a:t>
            </a:r>
          </a:p>
          <a:p>
            <a:r>
              <a:t>this one — it is what the panel will remember.</a:t>
            </a:r>
          </a:p>
          <a:p/>
          <a:p>
            <a:r>
              <a:t>Lead with the first. It pays off the Baran reversal you flagged on the prior-art slide:</a:t>
            </a:r>
          </a:p>
          <a:p>
            <a:r>
              <a:t>"I said earlier that the rule we took from Baran reversed on us. That happened twice, with</a:t>
            </a:r>
          </a:p>
          <a:p>
            <a:r>
              <a:t>two different rules, and the reason was the same both times."</a:t>
            </a:r>
          </a:p>
          <a:p/>
          <a:p>
            <a:r>
              <a:t>The second one is the best anecdote in the project. Tell it as a story: "we looked at a sheet</a:t>
            </a:r>
          </a:p>
          <a:p>
            <a:r>
              <a:t>with thirty-two regions next to sheets with nine hundred and assumed it was dead weight. It</a:t>
            </a:r>
          </a:p>
          <a:p>
            <a:r>
              <a:t>turned out to be the single most important sheet in the piece."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[12:45-13:15] Thirty seconds, then stop. Ten minutes of critique follows.</a:t>
            </a:r>
          </a:p>
          <a:p/>
          <a:p>
            <a:r>
              <a:t>Close on the first item. Admitting the greedy is myopic is a strength, not a weakness, and it</a:t>
            </a:r>
          </a:p>
          <a:p>
            <a:r>
              <a:t>is the question a panel is most likely to ask anyway — answering it before they do is worth</a:t>
            </a:r>
          </a:p>
          <a:p>
            <a:r>
              <a:t>far more than the thirty seconds it costs.</a:t>
            </a:r>
          </a:p>
          <a:p/>
          <a:p>
            <a:r>
              <a:t>The last item is the nicest closing line available: "we started wanting a designer's tool and</a:t>
            </a:r>
          </a:p>
          <a:p>
            <a:r>
              <a:t>ended up writing a solver. Putting the solver back behind sliders is the last step."</a:t>
            </a:r>
          </a:p>
          <a:p/>
          <a:p>
            <a:r>
              <a:t>THERE ARE BACKUP SLIDES after this one: the algorithm in full, the optics and rig numbers,</a:t>
            </a:r>
          </a:p>
          <a:p>
            <a:r>
              <a:t>the vectorisation pipeline, the design sweep, and a list of the questions we expect. Know the</a:t>
            </a:r>
          </a:p>
          <a:p>
            <a:r>
              <a:t>order so you can jump straight to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walk through these. Jump to one when a question lands:</a:t>
            </a:r>
          </a:p>
          <a:p/>
          <a:p>
            <a:r>
              <a:t>  B1  the damage functional, its four limiting cases, and why greedy</a:t>
            </a:r>
          </a:p>
          <a:p>
            <a:r>
              <a:t>  B2  the optics and the full rig geometry</a:t>
            </a:r>
          </a:p>
          <a:p>
            <a:r>
              <a:t>  B3  raster to cut files — thresholding, minimum feature, kerf</a:t>
            </a:r>
          </a:p>
          <a:p>
            <a:r>
              <a:t>  B4  the design sweep, and the two rules that reversed</a:t>
            </a:r>
          </a:p>
          <a:p>
            <a:r>
              <a:t>  B5  the questions we expect, with the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go here for "how is damage actually defined?" or "is the greedy optimal?"</a:t>
            </a:r>
          </a:p>
          <a:p/>
          <a:p>
            <a:r>
              <a:t>The functional is the thing to be proud of, because its four limiting cases fall out of the</a:t>
            </a:r>
          </a:p>
          <a:p>
            <a:r>
              <a:t>algebra rather than being special-cased:</a:t>
            </a:r>
          </a:p>
          <a:p/>
          <a:p>
            <a:r>
              <a:t>  - target white there   -&gt; leaving it blank is already correct, so any shadow is pure harm</a:t>
            </a:r>
          </a:p>
          <a:p>
            <a:r>
              <a:t>  - target dark there    -&gt; blank is maximally WRONG, so a dark fragment IMPROVES it -&gt; credit</a:t>
            </a:r>
          </a:p>
          <a:p>
            <a:r>
              <a:t>  - target matches tone  -&gt; the fragment supplies exactly the colour wanted -&gt; maximal credit</a:t>
            </a:r>
          </a:p>
          <a:p>
            <a:r>
              <a:t>  - lands off the wall   -&gt; contributes nothing, so "aim the cross-talk into the void" is a</a:t>
            </a:r>
          </a:p>
          <a:p>
            <a:r>
              <a:t>                            strategy the assignment can discover on its own</a:t>
            </a:r>
          </a:p>
          <a:p/>
          <a:p>
            <a:r>
              <a:t>Earlier versions were harm-only and non-negative. That form structurally could not reward</a:t>
            </a:r>
          </a:p>
          <a:p>
            <a:r>
              <a:t>double duty, so it drove good cross-talk to zero along with the bad. Making delta signed is</a:t>
            </a:r>
          </a:p>
          <a:p>
            <a:r>
              <a:t>the single change that turned interference from a cost into a resource.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go here for anything about the rig, the blur, or "what resolution can you actually</a:t>
            </a:r>
          </a:p>
          <a:p>
            <a:r>
              <a:t>achieve?"</a:t>
            </a:r>
          </a:p>
          <a:p/>
          <a:p>
            <a:r>
              <a:t>The line worth having ready: "we compute the blur from the lamp's physical size first, and</a:t>
            </a:r>
          </a:p>
          <a:p>
            <a:r>
              <a:t>then refuse to engrave anything finer than it. Detail below the blur is precision the light</a:t>
            </a:r>
          </a:p>
          <a:p>
            <a:r>
              <a:t>can never resolve."</a:t>
            </a:r>
          </a:p>
          <a:p/>
          <a:p>
            <a:r>
              <a:t>Those ten numbers plus the cut files are sufficient to rebuild the piece, which is why they</a:t>
            </a:r>
          </a:p>
          <a:p>
            <a:r>
              <a:t>are also in the replication section of the submission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go here for "how does the solved image become polygons?" or any kerf / tolerance</a:t>
            </a:r>
          </a:p>
          <a:p>
            <a:r>
              <a:t>question.</a:t>
            </a:r>
          </a:p>
          <a:p/>
          <a:p>
            <a:r>
              <a:t>The minimum-feature step is the interesting one: it is where the penumbra bound computed on</a:t>
            </a:r>
          </a:p>
          <a:p>
            <a:r>
              <a:t>the optics slide stops being a number and becomes physical geometry. We open then close at</a:t>
            </a:r>
          </a:p>
          <a:p>
            <a:r>
              <a:t>the cuttable radius, so nothing survives that the light could not have resolved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this is the evidence for the reversal claimed on the prior-art slide and paid off on</a:t>
            </a:r>
          </a:p>
          <a:p>
            <a:r>
              <a:t>the insights slide. Go here if anyone challenges either.</a:t>
            </a:r>
          </a:p>
          <a:p/>
          <a:p>
            <a:r>
              <a:t>Point at the bottom-left panel: the green bar is what we shipped; the dark, density-even</a:t>
            </a:r>
          </a:p>
          <a:p>
            <a:r>
              <a:t>alphabet from Baran is the fourth bar down.</a:t>
            </a:r>
          </a:p>
          <a:p/>
          <a:p>
            <a:r>
              <a:t>The bottom-right panel is the whole semester in one chart — a third of the sheets and a</a:t>
            </a:r>
          </a:p>
          <a:p>
            <a:r>
              <a:t>quarter of the footprint of our earlier build, and still ahead of it. The last bar is measured</a:t>
            </a:r>
          </a:p>
          <a:p>
            <a:r>
              <a:t>from the exported cut files, not from the solver.</a:t>
            </a:r>
          </a:p>
          <a:p/>
          <a:p>
            <a:r>
              <a:t>The honest framing: neither rule was measured badly. Both were measured at eighteen sheets,</a:t>
            </a:r>
          </a:p>
          <a:p>
            <a:r>
              <a:t>where a constraint we later removed was doing the work. You cannot detect that from inside</a:t>
            </a:r>
          </a:p>
          <a:p>
            <a:r>
              <a:t>the original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keep this slide up during the critique if the panel is asking rapid-fire questions.</a:t>
            </a:r>
          </a:p>
          <a:p/>
          <a:p>
            <a:r>
              <a:t>Whoever is not answering should be finding the right backup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20840" y="777240"/>
            <a:ext cx="4828032" cy="530352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30568" y="3017520"/>
            <a:ext cx="46085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examples/photos/fab_04_object.jpg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57607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E8B54A"/>
                </a:solidFill>
                <a:latin typeface="Segoe UI"/>
              </a:rPr>
              <a:t>SHADOW ART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0">
                <a:solidFill>
                  <a:srgbClr val="F2F2F0"/>
                </a:solidFill>
                <a:latin typeface="Segoe UI"/>
              </a:rPr>
              <a:t>One object.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0">
                <a:solidFill>
                  <a:srgbClr val="F2F2F0"/>
                </a:solidFill>
                <a:latin typeface="Segoe UI"/>
              </a:rPr>
              <a:t>Three portraits.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200"/>
              </a:spcAft>
            </a:pPr>
            <a:r>
              <a:rPr sz="4000" b="0">
                <a:solidFill>
                  <a:srgbClr val="E8B54A"/>
                </a:solidFill>
                <a:latin typeface="Segoe UI"/>
              </a:rPr>
              <a:t>Six sheets of acrylic.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</a:pPr>
            <a:r>
              <a:rPr sz="1400" b="0">
                <a:solidFill>
                  <a:srgbClr val="92969C"/>
                </a:solidFill>
                <a:latin typeface="Segoe UI"/>
              </a:rPr>
              <a:t>A single laser-engraved assembly that casts the Girl with a Pearl Earring from the front, the side and the back as it turns.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2F2F0"/>
                </a:solidFill>
                <a:latin typeface="Segoe UI"/>
              </a:rPr>
              <a:t>Ofek Yankis  ·  Shadha  ·  Yahel Hershko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MoP '26 Final Project  ·  Faculty of Architecture and Town Planning  ·  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466490" cy="41148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954426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2F2F0"/>
                </a:solidFill>
                <a:latin typeface="Segoe UI"/>
              </a:rPr>
              <a:t>Ofek Yankis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150" b="0">
                <a:solidFill>
                  <a:srgbClr val="E8B54A"/>
                </a:solidFill>
                <a:latin typeface="Segoe UI"/>
              </a:rPr>
              <a:t>BSc Computer Science, 3rd year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Built the simulation environment and the differentiable renderer; GPU port and performance work; parameter sweeps and the fabrication export pipeline.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Interests: [ADD — e.g. graphics, optimisation, GPU computing]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2602" y="1783080"/>
            <a:ext cx="3466490" cy="41148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8634" y="2057400"/>
            <a:ext cx="2954426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2F2F0"/>
                </a:solidFill>
                <a:latin typeface="Segoe UI"/>
              </a:rPr>
              <a:t>Shadha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150" b="0">
                <a:solidFill>
                  <a:srgbClr val="E8B54A"/>
                </a:solidFill>
                <a:latin typeface="Segoe UI"/>
              </a:rPr>
              <a:t>BSc Computer Science, 4th year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Designed the cross-talk-aware assignment algorithm and the two-stage solver; the damage functional and the re-toning descent.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Interests: [ADD — e.g. algorithms, inverse problems, computational design]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783080"/>
            <a:ext cx="3466490" cy="41148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22868" y="2057400"/>
            <a:ext cx="2954426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2F2F0"/>
                </a:solidFill>
                <a:latin typeface="Segoe UI"/>
              </a:rPr>
              <a:t>Yahel Hershko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150" b="0">
                <a:solidFill>
                  <a:srgbClr val="E8B54A"/>
                </a:solidFill>
                <a:latin typeface="Segoe UI"/>
              </a:rPr>
              <a:t>MSc Architecture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Originated the concept; drove the physical and optical design; specified the material and joinery; fabricated and assembled the artefact.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Interests: [ADD — e.g. digital fabrication, computational design, light]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05332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Technion — Israel Institute of Technology  ·  the project is a collaboration between Computer Science and Architecture, which is also why it exists: the algorithm and the artefact were designed against each other rather than in sequence.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BACKGROUND —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Three views of one painting, from one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50292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800"/>
              </a:spcAft>
            </a:pPr>
            <a:r>
              <a:rPr sz="1500" b="0">
                <a:solidFill>
                  <a:srgbClr val="F2F2F0"/>
                </a:solidFill>
                <a:latin typeface="Segoe UI"/>
              </a:rPr>
              <a:t>We take Vermeer's </a:t>
            </a:r>
            <a:r>
              <a:rPr sz="1500" b="1">
                <a:solidFill>
                  <a:srgbClr val="E8B54A"/>
                </a:solidFill>
                <a:latin typeface="Segoe UI"/>
              </a:rPr>
              <a:t>Girl with a Pearl Earring</a:t>
            </a:r>
            <a:r>
              <a:rPr sz="1500" b="0">
                <a:solidFill>
                  <a:srgbClr val="F2F2F0"/>
                </a:solidFill>
                <a:latin typeface="Segoe UI"/>
              </a:rPr>
              <a:t> and three views of her — </a:t>
            </a:r>
            <a:r>
              <a:rPr sz="1500" b="1">
                <a:solidFill>
                  <a:srgbClr val="E8B54A"/>
                </a:solidFill>
                <a:latin typeface="Segoe UI"/>
              </a:rPr>
              <a:t>front, profile, back</a:t>
            </a:r>
            <a:r>
              <a:rPr sz="1500" b="0">
                <a:solidFill>
                  <a:srgbClr val="F2F2F0"/>
                </a:solidFill>
                <a:latin typeface="Segoe UI"/>
              </a:rPr>
              <a:t> — and ask for a single physical object whose shadow is all three, depending on how it is turned.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800"/>
              </a:spcAft>
            </a:pPr>
            <a:r>
              <a:rPr sz="1500" b="0">
                <a:solidFill>
                  <a:srgbClr val="F2F2F0"/>
                </a:solidFill>
                <a:latin typeface="Segoe UI"/>
              </a:rPr>
              <a:t>The object stays on a turntable. The lamp never moves. Only the rotation changes.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0"/>
                </a:solidFill>
                <a:latin typeface="Segoe UI"/>
              </a:rPr>
              <a:t>That constraint is the whole problem. Three images have to be encoded into one arrangement of matter, and every part of that matter is visible to </a:t>
            </a:r>
            <a:r>
              <a:rPr sz="1500" b="1">
                <a:solidFill>
                  <a:srgbClr val="E8B54A"/>
                </a:solidFill>
                <a:latin typeface="Segoe UI"/>
              </a:rPr>
              <a:t>all three</a:t>
            </a:r>
            <a:r>
              <a:rPr sz="1500" b="0">
                <a:solidFill>
                  <a:srgbClr val="F2F2F0"/>
                </a:solidFill>
                <a:latin typeface="Segoe UI"/>
              </a:rPr>
              <a:t> projections at once.</a:t>
            </a:r>
          </a:p>
        </p:txBody>
      </p:sp>
      <p:pic>
        <p:nvPicPr>
          <p:cNvPr id="6" name="Picture 5" descr="pearl6_projections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131" y="1737360"/>
            <a:ext cx="3370217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5705856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Left: the source at each of the three stops.  Right: the shadow the six-sheet solution casts there.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BACKGROUND — THE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How we got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2567863" cy="41148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209237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F2F2F0"/>
                </a:solidFill>
                <a:latin typeface="Segoe UI"/>
              </a:rPr>
              <a:t>Hang it from the ceiling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The first idea was a suspended cloud: fragments floating at their own depths, free in all three dimensions. Maximum freedom for the optimiser.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224528"/>
            <a:ext cx="20923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E8B54A"/>
                </a:solidFill>
                <a:latin typeface="Segoe UI"/>
              </a:rPr>
              <a:t>What it cost us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Every fragment needs something to hang from, and the thread casts a shadow too. It was freedom the fabrication could not honour.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5375" y="36576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2969C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7399" y="1783080"/>
            <a:ext cx="2567863" cy="41148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65143" y="1993392"/>
            <a:ext cx="209237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F2F2F0"/>
                </a:solidFill>
                <a:latin typeface="Segoe UI"/>
              </a:rPr>
              <a:t>Rhino and Grasshopper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We built it parametrically in Grasshopper, which is the standard tool for this kind of geometry in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4224528"/>
            <a:ext cx="20923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E8B54A"/>
                </a:solidFill>
                <a:latin typeface="Segoe UI"/>
              </a:rPr>
              <a:t>What it cost us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A dataflow evaluator, not an optimiser. We needed hundreds of solves, gradients and a GPU — and it could not show all three projections at 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4407" y="36576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2969C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783080"/>
            <a:ext cx="2567863" cy="41148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1993392"/>
            <a:ext cx="209237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F2F2F0"/>
                </a:solidFill>
                <a:latin typeface="Segoe UI"/>
              </a:rPr>
              <a:t>So we built our own simulator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A differentiable renderer in Python, and an orbitable 3D scene in the browser — sheets, lamp, rays and all three walls in one view, with no CAD licence.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4224528"/>
            <a:ext cx="20923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E8B54A"/>
                </a:solidFill>
                <a:latin typeface="Segoe UI"/>
              </a:rPr>
              <a:t>What it cost us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The renderer became the physics model, the optimisation objective and the preview at the same time. Sweeps went from unrunnable to </a:t>
            </a:r>
            <a:r>
              <a:rPr sz="1100" b="1">
                <a:solidFill>
                  <a:srgbClr val="E8B54A"/>
                </a:solidFill>
                <a:latin typeface="Segoe UI"/>
              </a:rPr>
              <a:t>21.6 s</a:t>
            </a:r>
            <a:r>
              <a:rPr sz="1100" b="0">
                <a:solidFill>
                  <a:srgbClr val="92969C"/>
                </a:solidFill>
                <a:latin typeface="Segoe UI"/>
              </a:rPr>
              <a:t> per complete build.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3439" y="36576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2969C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5463" y="1783080"/>
            <a:ext cx="2567863" cy="41148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03207" y="1993392"/>
            <a:ext cx="209237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F2F2F0"/>
                </a:solidFill>
                <a:latin typeface="Segoe UI"/>
              </a:rPr>
              <a:t>Then the geometry changed completely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The suspended cloud became </a:t>
            </a:r>
            <a:r>
              <a:rPr sz="1150" b="1">
                <a:solidFill>
                  <a:srgbClr val="E8B54A"/>
                </a:solidFill>
                <a:latin typeface="Segoe UI"/>
              </a:rPr>
              <a:t>six flat laser-cut sheets</a:t>
            </a:r>
            <a:r>
              <a:rPr sz="1150" b="0">
                <a:solidFill>
                  <a:srgbClr val="F2F2F0"/>
                </a:solidFill>
                <a:latin typeface="Segoe UI"/>
              </a:rPr>
              <a:t>, slotted into each other: self-supporting, reproducible from files, nothing extra in the light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3207" y="4224528"/>
            <a:ext cx="20923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E8B54A"/>
                </a:solidFill>
                <a:latin typeface="Segoe UI"/>
              </a:rPr>
              <a:t>What it cost us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But depth stopped being continuous. A fragment now has to pick a </a:t>
            </a:r>
            <a:r>
              <a:rPr sz="1100" b="1">
                <a:solidFill>
                  <a:srgbClr val="E8B54A"/>
                </a:solidFill>
                <a:latin typeface="Segoe UI"/>
              </a:rPr>
              <a:t>discrete host sheet</a:t>
            </a:r>
            <a:r>
              <a:rPr sz="1100" b="0">
                <a:solidFill>
                  <a:srgbClr val="92969C"/>
                </a:solidFill>
                <a:latin typeface="Segoe UI"/>
              </a:rPr>
              <a:t> — and that single change is what created the problem the rest of this talk is about.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05332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8B54A"/>
                </a:solidFill>
                <a:latin typeface="Segoe UI"/>
              </a:rPr>
              <a:t>Two of the three big decisions this semester were made by discovering what the previous one could not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BACKGROUND — PRIOR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Where this sits, and what we added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5623560" cy="1353312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2F2F0"/>
                </a:solidFill>
                <a:latin typeface="Segoe UI"/>
              </a:rPr>
              <a:t>Mitra &amp; Pauly — Shadow Art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SIGGRAPH Asia 2009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2002536"/>
            <a:ext cx="1572768" cy="256032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 w="9525">
            <a:solidFill>
              <a:srgbClr val="D9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53128" y="2043684"/>
            <a:ext cx="15727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D96B5E"/>
                </a:solidFill>
                <a:latin typeface="Segoe UI"/>
              </a:rPr>
              <a:t>NOT APPLICABLE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Carve one connected volume from the visual hull. Ours is flat laser-cut stock, not a solid — but we kept their honesty: for many target triples no exact solution exists, so the goal is the best approximation, not a match.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09544"/>
            <a:ext cx="5623560" cy="1353312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33924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2F2F0"/>
                </a:solidFill>
                <a:latin typeface="Segoe UI"/>
              </a:rPr>
              <a:t>Baran et al. — Layered Attenuators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Eurographics 2012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429000"/>
            <a:ext cx="1572768" cy="256032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 w="9525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53128" y="3470148"/>
            <a:ext cx="15727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7CC576"/>
                </a:solidFill>
                <a:latin typeface="Segoe UI"/>
              </a:rPr>
              <a:t>ADOPTED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41063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The closest relative. Transmittances multiply, so optical densities add — tone levels should be spaced evenly in density. Worth </a:t>
            </a:r>
            <a:r>
              <a:rPr sz="1050" b="1">
                <a:solidFill>
                  <a:srgbClr val="E8B54A"/>
                </a:solidFill>
                <a:latin typeface="Segoe UI"/>
              </a:rPr>
              <a:t>+0.034 mean IoU</a:t>
            </a:r>
            <a:r>
              <a:rPr sz="1050" b="0">
                <a:solidFill>
                  <a:srgbClr val="92969C"/>
                </a:solidFill>
                <a:latin typeface="Segoe UI"/>
              </a:rPr>
              <a:t> to us. It then reversed when we cut to six sheets, which is the closing insight of this talk.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36008"/>
            <a:ext cx="5623560" cy="1353312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81888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2F2F0"/>
                </a:solidFill>
                <a:latin typeface="Segoe UI"/>
              </a:rPr>
              <a:t>Bermano et al. — ShadowPix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2012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4855464"/>
            <a:ext cx="1572768" cy="256032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 w="9525">
            <a:solidFill>
              <a:srgbClr val="D9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53128" y="4896612"/>
            <a:ext cx="15727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D96B5E"/>
                </a:solidFill>
                <a:latin typeface="Segoe UI"/>
              </a:rPr>
              <a:t>NOT APPLICABLE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6752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Height-field reliefs that self-shadow under grazing light. That is reflection; ours is transmission, so our stack composes multiplicatively instead.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783080"/>
            <a:ext cx="4992624" cy="420624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12280" y="196596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8B54A"/>
                </a:solidFill>
                <a:latin typeface="Segoe UI"/>
              </a:rPr>
              <a:t>What is new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43230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2F0"/>
                </a:solidFill>
                <a:latin typeface="Segoe UI"/>
              </a:rPr>
              <a:t>Rotation, not relighting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The lamp is fixed and the object turns, so all three images share one set of matter with no ability to mask any of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319272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2F0"/>
                </a:solidFill>
                <a:latin typeface="Segoe UI"/>
              </a:rPr>
              <a:t>Engraving density as the tone alphabet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Four levels cut into one clear sheet. No dye, no lamination, no thickness variation — tone is a laser parameter.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206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2F0"/>
                </a:solidFill>
                <a:latin typeface="Segoe UI"/>
              </a:rPr>
              <a:t>Cross-talk priced, not suppressed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Interference enters the objective as a </a:t>
            </a:r>
            <a:r>
              <a:rPr sz="1050" b="1">
                <a:solidFill>
                  <a:srgbClr val="E8B54A"/>
                </a:solidFill>
                <a:latin typeface="Segoe UI"/>
              </a:rPr>
              <a:t>signed</a:t>
            </a:r>
            <a:r>
              <a:rPr sz="1050" b="0">
                <a:solidFill>
                  <a:srgbClr val="92969C"/>
                </a:solidFill>
                <a:latin typeface="Segoe UI"/>
              </a:rPr>
              <a:t> term that may go negative, so a fragment is rewarded for genuinely serving another 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093207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2F0"/>
                </a:solidFill>
                <a:latin typeface="Segoe UI"/>
              </a:rPr>
              <a:t>Fabrication inside the loop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Kerf, minimum feature and joint feasibility constrain the solver directly, and the gates re-verify against the exported polygons.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Why this is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810512"/>
            <a:ext cx="3466490" cy="40233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084831"/>
            <a:ext cx="291785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0">
                <a:solidFill>
                  <a:srgbClr val="F2F2F0"/>
                </a:solidFill>
                <a:latin typeface="Segoe UI"/>
              </a:rPr>
              <a:t>You cannot switch a sheet off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Light does not care which picture a sheet was meant for. When the lamp is lit for the front view, </a:t>
            </a:r>
            <a:r>
              <a:rPr sz="1250" b="1">
                <a:solidFill>
                  <a:srgbClr val="E8B54A"/>
                </a:solidFill>
                <a:latin typeface="Segoe UI"/>
              </a:rPr>
              <a:t>all six sheets</a:t>
            </a:r>
            <a:r>
              <a:rPr sz="1250" b="0">
                <a:solidFill>
                  <a:srgbClr val="92969C"/>
                </a:solidFill>
                <a:latin typeface="Segoe UI"/>
              </a:rPr>
              <a:t> are in the beam — including the four intended for the other two views. Their shadows land on the wall too, stretched and smeared across the face. There is no masking operation 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2602" y="1810512"/>
            <a:ext cx="3466490" cy="40233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36922" y="2084831"/>
            <a:ext cx="291785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02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0">
                <a:solidFill>
                  <a:srgbClr val="F2F2F0"/>
                </a:solidFill>
                <a:latin typeface="Segoe UI"/>
              </a:rPr>
              <a:t>Shadows multiply, they do not add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Two half-dark patches in line do not make black. Each passes half the light, so together they pass a quarter. Three sheets that each independently wanted mid-grey compose to </a:t>
            </a:r>
            <a:r>
              <a:rPr sz="1250" b="1">
                <a:solidFill>
                  <a:srgbClr val="E8B54A"/>
                </a:solidFill>
                <a:latin typeface="Segoe UI"/>
              </a:rPr>
              <a:t>0.6³ = 0.22</a:t>
            </a:r>
            <a:r>
              <a:rPr sz="1250" b="0">
                <a:solidFill>
                  <a:srgbClr val="92969C"/>
                </a:solidFill>
                <a:latin typeface="Segoe UI"/>
              </a:rPr>
              <a:t> — near black. Every sheet's contribution depends on what every other sheet does at that exact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810512"/>
            <a:ext cx="3466490" cy="40233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41156" y="2084831"/>
            <a:ext cx="291785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03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0">
                <a:solidFill>
                  <a:srgbClr val="F2F2F0"/>
                </a:solidFill>
                <a:latin typeface="Segoe UI"/>
              </a:rPr>
              <a:t>No single sheet may be readable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If one sheet carried a recognisable face, the piece would be a picture on plastic with decoration around it. The image has to exist </a:t>
            </a:r>
            <a:r>
              <a:rPr sz="1250" b="1">
                <a:solidFill>
                  <a:srgbClr val="E8B54A"/>
                </a:solidFill>
                <a:latin typeface="Segoe UI"/>
              </a:rPr>
              <a:t>only in the combination</a:t>
            </a:r>
            <a:r>
              <a:rPr sz="1250" b="0">
                <a:solidFill>
                  <a:srgbClr val="92969C"/>
                </a:solidFill>
                <a:latin typeface="Segoe UI"/>
              </a:rPr>
              <a:t>, so each portrait is deliberately shattered and scattered across sheets and depths.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move: stop fighting the interference, and spend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F2F2F0"/>
                </a:solidFill>
                <a:latin typeface="Segoe UI"/>
              </a:rPr>
              <a:t>A fragment of engraving sitting in the beam casts a shadow for </a:t>
            </a:r>
            <a:r>
              <a:rPr sz="1500" b="1">
                <a:solidFill>
                  <a:srgbClr val="E8B54A"/>
                </a:solidFill>
                <a:latin typeface="Segoe UI"/>
              </a:rPr>
              <a:t>every</a:t>
            </a:r>
            <a:r>
              <a:rPr sz="1500" b="0">
                <a:solidFill>
                  <a:srgbClr val="F2F2F0"/>
                </a:solidFill>
                <a:latin typeface="Segoe UI"/>
              </a:rPr>
              <a:t> view, not just its own. Normally that is the error term.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F2F2F0"/>
                </a:solidFill>
                <a:latin typeface="Segoe UI"/>
              </a:rPr>
              <a:t>But if it is positioned so that its stray shadow lands where another portrait </a:t>
            </a:r>
            <a:r>
              <a:rPr sz="1500" b="1">
                <a:solidFill>
                  <a:srgbClr val="E8B54A"/>
                </a:solidFill>
                <a:latin typeface="Segoe UI"/>
              </a:rPr>
              <a:t>also wanted darkness</a:t>
            </a:r>
            <a:r>
              <a:rPr sz="1500" b="0">
                <a:solidFill>
                  <a:srgbClr val="F2F2F0"/>
                </a:solidFill>
                <a:latin typeface="Segoe UI"/>
              </a:rPr>
              <a:t>, that shadow is not damage. It is free work. One piece of engraving, three pictures served.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B54A"/>
                </a:solidFill>
                <a:latin typeface="Segoe UI"/>
              </a:rPr>
              <a:t>So the question the optimiser answers is not "where do the front-view pieces go". It is: </a:t>
            </a:r>
            <a:r>
              <a:rPr sz="1500" b="1">
                <a:solidFill>
                  <a:srgbClr val="E8B54A"/>
                </a:solidFill>
                <a:latin typeface="Segoe UI"/>
              </a:rPr>
              <a:t>where can a piece help all three views at once?</a:t>
            </a:r>
          </a:p>
        </p:txBody>
      </p:sp>
      <p:pic>
        <p:nvPicPr>
          <p:cNvPr id="6" name="Picture 5" descr="1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260" y="1737360"/>
            <a:ext cx="302260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138928"/>
            <a:ext cx="2540431" cy="123444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9536" y="5340096"/>
            <a:ext cx="2138095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>
                <a:solidFill>
                  <a:srgbClr val="E8B54A"/>
                </a:solidFill>
                <a:latin typeface="Segoe UI"/>
              </a:rPr>
              <a:t>100%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of fragments serve at least two of the three 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6543" y="5138928"/>
            <a:ext cx="2540431" cy="123444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37711" y="5340096"/>
            <a:ext cx="2138095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>
                <a:solidFill>
                  <a:srgbClr val="E8B54A"/>
                </a:solidFill>
                <a:latin typeface="Segoe UI"/>
              </a:rPr>
              <a:t>93%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serve all three 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4719" y="5138928"/>
            <a:ext cx="2540431" cy="123444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5887" y="5340096"/>
            <a:ext cx="2138095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>
                <a:solidFill>
                  <a:srgbClr val="E8B54A"/>
                </a:solidFill>
                <a:latin typeface="Segoe UI"/>
              </a:rPr>
              <a:t>2.93 / 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average views served per fragment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2895" y="5138928"/>
            <a:ext cx="2540431" cy="123444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94063" y="5340096"/>
            <a:ext cx="2138095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400" b="0">
                <a:solidFill>
                  <a:srgbClr val="E8B54A"/>
                </a:solidFill>
                <a:latin typeface="Segoe UI"/>
              </a:rPr>
              <a:t>−0.005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measured cross-talk — negative, i.e. constructive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THE PROJECT — ALGORITHMIC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1428162" cy="22860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10989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F2F2F0"/>
                </a:solidFill>
                <a:latin typeface="Segoe UI"/>
              </a:rPr>
              <a:t>Targets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Three views become darkness fields on the 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1102" y="29260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2969C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2834" y="1965960"/>
            <a:ext cx="1428162" cy="22860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397426" y="2194560"/>
            <a:ext cx="10989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F2F2F0"/>
                </a:solidFill>
                <a:latin typeface="Segoe UI"/>
              </a:rPr>
              <a:t>Optics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Homographies, magnification, penumbra 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5568" y="29260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2969C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7300" y="1965960"/>
            <a:ext cx="1428162" cy="22860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71892" y="2194560"/>
            <a:ext cx="10989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F2F2F0"/>
                </a:solidFill>
                <a:latin typeface="Segoe UI"/>
              </a:rPr>
              <a:t>Shatter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Detail-adaptive Voronoi fragmentation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0034" y="29260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2969C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1766" y="1965960"/>
            <a:ext cx="1428162" cy="22860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46358" y="2194560"/>
            <a:ext cx="10989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F2F2F0"/>
                </a:solidFill>
                <a:latin typeface="Segoe UI"/>
              </a:rPr>
              <a:t>Assign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Cross-talk-aware host selection — the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4500" y="29260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2969C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56232" y="1965960"/>
            <a:ext cx="1428162" cy="22860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20824" y="2194560"/>
            <a:ext cx="10989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F2F2F0"/>
                </a:solidFill>
                <a:latin typeface="Segoe UI"/>
              </a:rPr>
              <a:t>Weave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Half-lap joints, collision clearance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8966" y="29260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2969C"/>
                </a:solidFill>
                <a:latin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0698" y="1965960"/>
            <a:ext cx="1428162" cy="22860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 w="15875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95290" y="2194560"/>
            <a:ext cx="10989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F2F2F0"/>
                </a:solidFill>
                <a:latin typeface="Segoe UI"/>
              </a:rPr>
              <a:t>Re-tone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Coordinate descent over four tones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3433" y="29260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2969C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5165" y="1965960"/>
            <a:ext cx="1428162" cy="228600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69757" y="2194560"/>
            <a:ext cx="10989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07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F2F2F0"/>
                </a:solidFill>
                <a:latin typeface="Segoe UI"/>
              </a:rPr>
              <a:t>Cut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Min-feature, kerf, layered DXF/SVG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709160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2F2F0"/>
                </a:solidFill>
                <a:latin typeface="Segoe UI"/>
              </a:rPr>
              <a:t>One renderer serves as the physics simulator, the optimisation objective and the preview.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That identity is deliberate: it removes the entire class of bug where the thing being optimised quietly diverges from the thing being measured. It is differentiable, runs on the GPU, and a complete build takes </a:t>
            </a:r>
            <a:r>
              <a:rPr sz="1250" b="1">
                <a:solidFill>
                  <a:srgbClr val="E8B54A"/>
                </a:solidFill>
                <a:latin typeface="Segoe UI"/>
              </a:rPr>
              <a:t>21.6 seconds</a:t>
            </a:r>
            <a:r>
              <a:rPr sz="1250" b="0">
                <a:solidFill>
                  <a:srgbClr val="92969C"/>
                </a:solidFill>
                <a:latin typeface="Segoe U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8932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8B54A"/>
                </a:solidFill>
                <a:latin typeface="Segoe UI"/>
              </a:rPr>
              <a:t>The two highlighted stages are where the research contribution sits.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THE PROJECT — THE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algorithm: which sheet hosts each fragment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5989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2F0"/>
                </a:solidFill>
                <a:latin typeface="Segoe UI"/>
              </a:rPr>
              <a:t>A fragment's position inside its own portrait is already fixed by the optics. The one free variable left is </a:t>
            </a:r>
            <a:r>
              <a:rPr sz="1250" b="1">
                <a:solidFill>
                  <a:srgbClr val="E8B54A"/>
                </a:solidFill>
                <a:latin typeface="Segoe UI"/>
              </a:rPr>
              <a:t>which sheet carries it</a:t>
            </a:r>
            <a:r>
              <a:rPr sz="1250" b="0">
                <a:solidFill>
                  <a:srgbClr val="F2F2F0"/>
                </a:solidFill>
                <a:latin typeface="Segoe UI"/>
              </a:rPr>
              <a:t> — and that decides where its unavoidable stray shadow lands on the other two 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06040"/>
            <a:ext cx="5989320" cy="2999232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2788920"/>
            <a:ext cx="54864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2F2F0"/>
                </a:solidFill>
                <a:latin typeface="Consolas"/>
              </a:rPr>
              <a:t>shatter each view's target into shards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2F2F0"/>
                </a:solidFill>
                <a:latin typeface="Consolas"/>
              </a:rPr>
              <a:t>order shards by the darkness they demand, densest first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2969C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2F2F0"/>
                </a:solidFill>
                <a:latin typeface="Consolas"/>
              </a:rPr>
              <a:t>for each shard f: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2969C"/>
                </a:solidFill>
                <a:latin typeface="Consolas"/>
              </a:rPr>
              <a:t>    for each sheet p that can physically reach f: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2969C"/>
                </a:solidFill>
                <a:latin typeface="Consolas"/>
              </a:rPr>
              <a:t>        gain   ← darkness f delivers to its OWN view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2969C"/>
                </a:solidFill>
                <a:latin typeface="Consolas"/>
              </a:rPr>
              <a:t>        </a:t>
            </a:r>
            <a:r>
              <a:rPr sz="1050" b="1">
                <a:solidFill>
                  <a:srgbClr val="E8B54A"/>
                </a:solidFill>
                <a:latin typeface="Consolas"/>
              </a:rPr>
              <a:t>damage ← stray darkness it throws on the OTHER two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2969C"/>
                </a:solidFill>
                <a:latin typeface="Consolas"/>
              </a:rPr>
              <a:t>        score  ← gain − λ · damage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2969C"/>
                </a:solidFill>
                <a:latin typeface="Consolas"/>
              </a:rPr>
              <a:t>    host(f) ← best-scoring sheet that still has room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2969C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2F2F0"/>
                </a:solidFill>
                <a:latin typeface="Consolas"/>
              </a:rPr>
              <a:t>resolve slot collisions where sheets cross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F2F2F0"/>
                </a:solidFill>
                <a:latin typeface="Consolas"/>
              </a:rPr>
              <a:t>freeze the geometry; coordinate-descend the four 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42432"/>
            <a:ext cx="5989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B54A"/>
                </a:solidFill>
                <a:latin typeface="Segoe UI"/>
              </a:rPr>
              <a:t>Before this, the host was a </a:t>
            </a:r>
            <a:r>
              <a:rPr sz="1200" b="1">
                <a:solidFill>
                  <a:srgbClr val="E8B54A"/>
                </a:solidFill>
                <a:latin typeface="Segoe UI"/>
              </a:rPr>
              <a:t>random draw</a:t>
            </a:r>
            <a:r>
              <a:rPr sz="1200" b="0">
                <a:solidFill>
                  <a:srgbClr val="E8B54A"/>
                </a:solidFill>
                <a:latin typeface="Segoe UI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Reconstruction quality swung </a:t>
            </a:r>
            <a:r>
              <a:rPr sz="1150" b="1">
                <a:solidFill>
                  <a:srgbClr val="E8B54A"/>
                </a:solidFill>
                <a:latin typeface="Segoe UI"/>
              </a:rPr>
              <a:t>14–37% on the seed alone</a:t>
            </a:r>
            <a:r>
              <a:rPr sz="1150" b="0">
                <a:solidFill>
                  <a:srgbClr val="92969C"/>
                </a:solidFill>
                <a:latin typeface="Segoe UI"/>
              </a:rPr>
              <a:t> — the single largest source of variance in the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4848" y="1737360"/>
            <a:ext cx="4745736" cy="28803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59168" y="1965960"/>
            <a:ext cx="42062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Damage is the expensive term — and we never render a wall to get it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Scoring a candidate naively means re-rendering another view's wall, for every fragment and every sheet. Instead we compose the two homographies once per (sheet, view) pair: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Consolas"/>
              </a:rPr>
              <a:t>G = H(sheet → other wall) · H(own wall → sheet)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That maps a point on the fragment's own wall </a:t>
            </a:r>
            <a:r>
              <a:rPr sz="1150" b="1">
                <a:solidFill>
                  <a:srgbClr val="E8B54A"/>
                </a:solidFill>
                <a:latin typeface="Segoe UI"/>
              </a:rPr>
              <a:t>directly</a:t>
            </a:r>
            <a:r>
              <a:rPr sz="1150" b="0">
                <a:solidFill>
                  <a:srgbClr val="F2F2F0"/>
                </a:solidFill>
                <a:latin typeface="Segoe UI"/>
              </a:rPr>
              <a:t> to where its material lands on another view's wall. Evaluating a host is then at most </a:t>
            </a:r>
            <a:r>
              <a:rPr sz="1150" b="1">
                <a:solidFill>
                  <a:srgbClr val="E8B54A"/>
                </a:solidFill>
                <a:latin typeface="Segoe UI"/>
              </a:rPr>
              <a:t>200 pixel transforms</a:t>
            </a:r>
            <a:r>
              <a:rPr sz="1150" b="0">
                <a:solidFill>
                  <a:srgbClr val="F2F2F0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84848" y="4800600"/>
            <a:ext cx="4745736" cy="292608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12864" y="4846320"/>
            <a:ext cx="29352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Cost of host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4846320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5138928"/>
            <a:ext cx="29352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Naive — re-render per candidate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5138928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F · P · V ·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5385816"/>
            <a:ext cx="4745736" cy="29260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12864" y="5431536"/>
            <a:ext cx="29352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Ours — composed homography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5431536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F · P · V · 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5724144"/>
            <a:ext cx="29352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Speed-up on the dominant 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5724144"/>
            <a:ext cx="12984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≈ 1800×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6053328"/>
            <a:ext cx="4745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8B54A"/>
                </a:solidFill>
                <a:latin typeface="Segoe UI"/>
              </a:rPr>
              <a:t>The difference between choosing hosts by </a:t>
            </a:r>
            <a:r>
              <a:rPr sz="1150" b="1">
                <a:solidFill>
                  <a:srgbClr val="E8B54A"/>
                </a:solidFill>
                <a:latin typeface="Segoe UI"/>
              </a:rPr>
              <a:t>optimisation</a:t>
            </a:r>
            <a:r>
              <a:rPr sz="1150" b="0">
                <a:solidFill>
                  <a:srgbClr val="E8B54A"/>
                </a:solidFill>
                <a:latin typeface="Segoe UI"/>
              </a:rPr>
              <a:t> and choosing them by coin flip.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THE PROJECT — THE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second stage, and the metric that hid the 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5486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E8B54A"/>
                </a:solidFill>
                <a:latin typeface="Segoe UI"/>
              </a:rPr>
              <a:t>Our renders scored 0.845 on IoU and still looked wrong.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6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Both were true. </a:t>
            </a:r>
            <a:r>
              <a:rPr sz="1250" b="1">
                <a:solidFill>
                  <a:srgbClr val="E8B54A"/>
                </a:solidFill>
                <a:latin typeface="Segoe UI"/>
              </a:rPr>
              <a:t>IoU scores the outline of a shape</a:t>
            </a:r>
            <a:r>
              <a:rPr sz="1250" b="0">
                <a:solidFill>
                  <a:srgbClr val="92969C"/>
                </a:solidFill>
                <a:latin typeface="Segoe UI"/>
              </a:rPr>
              <a:t>, so a face that is correctly shaped and uniformly crushed to black scores well. The silhouettes were right; the interiors were solid.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6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The cause was structural. Each fragment picked its tone from its own view's target, before anything was known about what else would occupy the same beam — and with 93% of fragments serving all three views, transmittances multiply. Mid-grey skin arrives as black.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2F2F0"/>
                </a:solidFill>
                <a:latin typeface="Segoe UI"/>
              </a:rPr>
              <a:t>First fix — and it failed.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Radiometric pre-compensation: divide the stray light out of the target and re-solve. Standard practice in projector-camera systems. It </a:t>
            </a:r>
            <a:r>
              <a:rPr sz="1250" b="1">
                <a:solidFill>
                  <a:srgbClr val="E8B54A"/>
                </a:solidFill>
                <a:latin typeface="Segoe UI"/>
              </a:rPr>
              <a:t>oscillated</a:t>
            </a:r>
            <a:r>
              <a:rPr sz="1250" b="0">
                <a:solidFill>
                  <a:srgbClr val="92969C"/>
                </a:solidFill>
                <a:latin typeface="Segoe UI"/>
              </a:rPr>
              <a:t> — 0.690 → 0.598 → 0.665 → 0.641 — because re-solving changes which fragments exist, which changes the stray light, which changes the target. A fixed point with no reason to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737360"/>
            <a:ext cx="5029200" cy="26974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12280" y="1920240"/>
            <a:ext cx="448056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E8B54A"/>
                </a:solidFill>
                <a:latin typeface="Segoe UI"/>
              </a:rPr>
              <a:t>What worked: freeze the geometry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92969C"/>
                </a:solidFill>
                <a:latin typeface="Segoe UI"/>
              </a:rPr>
              <a:t>Fragment shapes and host assignments are fixed. The only free variables left are the </a:t>
            </a:r>
            <a:r>
              <a:rPr sz="1200" b="1">
                <a:solidFill>
                  <a:srgbClr val="E8B54A"/>
                </a:solidFill>
                <a:latin typeface="Segoe UI"/>
              </a:rPr>
              <a:t>four discrete tone levels</a:t>
            </a:r>
            <a:r>
              <a:rPr sz="1200" b="0">
                <a:solidFill>
                  <a:srgbClr val="92969C"/>
                </a:solidFill>
                <a:latin typeface="Segoe UI"/>
              </a:rPr>
              <a:t>. That turns an ill-posed fixed point into plain </a:t>
            </a:r>
            <a:r>
              <a:rPr sz="1200" b="1">
                <a:solidFill>
                  <a:srgbClr val="E8B54A"/>
                </a:solidFill>
                <a:latin typeface="Segoe UI"/>
              </a:rPr>
              <a:t>coordinate descent</a:t>
            </a:r>
            <a:r>
              <a:rPr sz="1200" b="0">
                <a:solidFill>
                  <a:srgbClr val="92969C"/>
                </a:solidFill>
                <a:latin typeface="Segoe UI"/>
              </a:rPr>
              <a:t>: sweep one sheet at a time, try all four tones, keep the best.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Every sweep is monotone by construction, because a sweep only accepts a change that lowers the loss.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4480560"/>
            <a:ext cx="5029200" cy="274320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65976" y="4517136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Sweep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4517136"/>
            <a:ext cx="1252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4517136"/>
            <a:ext cx="978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mean IoU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23576" y="4517136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pixels 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4791456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4791456"/>
            <a:ext cx="1252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0.7684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4791456"/>
            <a:ext cx="978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0.8453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23576" y="4791456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5029200"/>
            <a:ext cx="5029200" cy="274320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65976" y="5065776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6" y="5065776"/>
            <a:ext cx="1252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0.7980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5065776"/>
            <a:ext cx="978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0.8449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3576" y="5065776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190,057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5340096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6" y="5340096"/>
            <a:ext cx="1252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5340096"/>
            <a:ext cx="978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0.8479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23576" y="5340096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46,816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5577840"/>
            <a:ext cx="5029200" cy="274320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65976" y="5614416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5614416"/>
            <a:ext cx="1252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5614416"/>
            <a:ext cx="978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0.8478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23576" y="5614416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6,646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5976" y="5888736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0376" y="5888736"/>
            <a:ext cx="1252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5888736"/>
            <a:ext cx="978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0.8478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23576" y="5888736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1,498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6126480"/>
            <a:ext cx="5029200" cy="274320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665976" y="6163056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6" y="6163056"/>
            <a:ext cx="1252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0.8021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6163056"/>
            <a:ext cx="978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0.8478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23576" y="6163056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6419088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score </a:t>
            </a:r>
            <a:r>
              <a:rPr sz="1050" b="1">
                <a:solidFill>
                  <a:srgbClr val="E8B54A"/>
                </a:solidFill>
                <a:latin typeface="Segoe UI"/>
              </a:rPr>
              <a:t>+0.0337</a:t>
            </a:r>
            <a:r>
              <a:rPr sz="1050" b="0">
                <a:solidFill>
                  <a:srgbClr val="92969C"/>
                </a:solidFill>
                <a:latin typeface="Segoe UI"/>
              </a:rPr>
              <a:t>  ·  mean IoU </a:t>
            </a:r>
            <a:r>
              <a:rPr sz="1050" b="1">
                <a:solidFill>
                  <a:srgbClr val="E8B54A"/>
                </a:solidFill>
                <a:latin typeface="Segoe UI"/>
              </a:rPr>
              <a:t>+0.0024</a:t>
            </a:r>
            <a:r>
              <a:rPr sz="1050" b="0">
                <a:solidFill>
                  <a:srgbClr val="92969C"/>
                </a:solidFill>
                <a:latin typeface="Segoe UI"/>
              </a:rPr>
              <a:t>  ·  the faces went from crushed to readable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THE PROJECT — FABRICATION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Fabrication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2554147" cy="278892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2766059"/>
            <a:ext cx="2334691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examples/photos/fab_01_engraving.jpg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Laser engraving the tone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1971" y="1783080"/>
            <a:ext cx="2554147" cy="278892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41699" y="2766059"/>
            <a:ext cx="2334691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examples/photos/fab_02_sheets_flat.jpg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The six sheets, cut and unassembled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5575" y="1783080"/>
            <a:ext cx="2554147" cy="278892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15303" y="2766059"/>
            <a:ext cx="2334691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examples/photos/fab_03_assembly.jpg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Slotting the weave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179" y="1783080"/>
            <a:ext cx="2554147" cy="278892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88907" y="2766059"/>
            <a:ext cx="2334691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examples/photos/fab_04_object.jpg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The finished assembly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681728"/>
            <a:ext cx="5623560" cy="1627632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901184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8B54A"/>
                </a:solidFill>
                <a:latin typeface="Segoe UI"/>
              </a:rPr>
              <a:t>ENG_L → ENG_D → ENG_K → CUT_SLOT → CUT_OUTLINE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Engrave first, cut last. Cutting the outline first leaves a compliant part that lifts off the bed and defocuses the beam.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Widest slot </a:t>
            </a:r>
            <a:r>
              <a:rPr sz="1100" b="1">
                <a:solidFill>
                  <a:srgbClr val="E8B54A"/>
                </a:solidFill>
                <a:latin typeface="Segoe UI"/>
              </a:rPr>
              <a:t>3.46 mm</a:t>
            </a:r>
            <a:r>
              <a:rPr sz="1100" b="0">
                <a:solidFill>
                  <a:srgbClr val="92969C"/>
                </a:solidFill>
                <a:latin typeface="Segoe UI"/>
              </a:rPr>
              <a:t> on 3 mm stock — not an error: a slot at a 60° crossing must be thickness ÷ sin 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48" y="4681728"/>
            <a:ext cx="4745736" cy="1627632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40880" y="4901184"/>
            <a:ext cx="42519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8B54A"/>
                </a:solidFill>
                <a:latin typeface="Segoe UI"/>
              </a:rPr>
              <a:t>3 mm clear cast acrylic · 3,629 engraved regions · 12 joints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The four tones are engraving depths in </a:t>
            </a:r>
            <a:r>
              <a:rPr sz="1100" b="1">
                <a:solidFill>
                  <a:srgbClr val="E8B54A"/>
                </a:solidFill>
                <a:latin typeface="Segoe UI"/>
              </a:rPr>
              <a:t>one</a:t>
            </a:r>
            <a:r>
              <a:rPr sz="1100" b="0">
                <a:solidFill>
                  <a:srgbClr val="92969C"/>
                </a:solidFill>
                <a:latin typeface="Segoe UI"/>
              </a:rPr>
              <a:t> material — no dye, no lamination, no thickness variation.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Specified as </a:t>
            </a:r>
            <a:r>
              <a:rPr sz="1100" b="1">
                <a:solidFill>
                  <a:srgbClr val="E8B54A"/>
                </a:solidFill>
                <a:latin typeface="Segoe UI"/>
              </a:rPr>
              <a:t>transmittance</a:t>
            </a:r>
            <a:r>
              <a:rPr sz="1100" b="0">
                <a:solidFill>
                  <a:srgbClr val="92969C"/>
                </a:solidFill>
                <a:latin typeface="Segoe UI"/>
              </a:rPr>
              <a:t>, not as power and speed, because those differ per machine. Calibrate on scrap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THE PROJECT —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artefact, and the shadows it actually casts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840480" cy="416052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451859"/>
            <a:ext cx="362102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examples/photos/fab_04_object.jpg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The assembly — roughly 30 × 30 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73168" y="1783080"/>
            <a:ext cx="2119274" cy="416052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82896" y="3451859"/>
            <a:ext cx="189981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examples/photos/shadow_front.jpg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Front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93610" y="1783080"/>
            <a:ext cx="2119274" cy="416052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03338" y="3451859"/>
            <a:ext cx="189981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examples/photos/shadow_side.jpg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4052" y="1783080"/>
            <a:ext cx="2119274" cy="416052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3780" y="3451859"/>
            <a:ext cx="189981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examples/photos/shadow_back.jpg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8076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Same object, same lamp. Only the rotation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THE PROJECT —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Results, and how we verified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2540431" cy="12801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1938528"/>
            <a:ext cx="2138095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0">
                <a:solidFill>
                  <a:srgbClr val="E8B54A"/>
                </a:solidFill>
                <a:latin typeface="Segoe UI"/>
              </a:rPr>
              <a:t>0.846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mean IoU across the three 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6543" y="1737360"/>
            <a:ext cx="2540431" cy="12801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37711" y="1938528"/>
            <a:ext cx="2138095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0">
                <a:solidFill>
                  <a:srgbClr val="E8B54A"/>
                </a:solidFill>
                <a:latin typeface="Segoe UI"/>
              </a:rPr>
              <a:t>0.836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worst single view — we optimise this too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4719" y="1737360"/>
            <a:ext cx="2540431" cy="12801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15887" y="1938528"/>
            <a:ext cx="2138095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0">
                <a:solidFill>
                  <a:srgbClr val="E8B54A"/>
                </a:solidFill>
                <a:latin typeface="Segoe UI"/>
              </a:rPr>
              <a:t>0.751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mean SSIM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2895" y="1737360"/>
            <a:ext cx="2540431" cy="12801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94063" y="1938528"/>
            <a:ext cx="2138095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600" b="0">
                <a:solidFill>
                  <a:srgbClr val="E8B54A"/>
                </a:solidFill>
                <a:latin typeface="Segoe UI"/>
              </a:rPr>
              <a:t>−0.005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cross-talk — constructive, not destructive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461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8B54A"/>
                </a:solidFill>
                <a:latin typeface="Segoe UI"/>
              </a:rPr>
              <a:t>Three gates, all required to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5760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2F0"/>
                </a:solidFill>
                <a:latin typeface="Segoe UI"/>
              </a:rPr>
              <a:t>A — mechanical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Every joint checked for crossing angle, slot width against material thickness, and impossible triple junctions.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07408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2F0"/>
                </a:solidFill>
                <a:latin typeface="Segoe UI"/>
              </a:rPr>
              <a:t>B — fabrication round trip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Re-rendered from the exported polygons rather than the solver's raster. Cost: +0.0018 IoU.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157216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2F0"/>
                </a:solidFill>
                <a:latin typeface="Segoe UI"/>
              </a:rPr>
              <a:t>C — ablation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Each sheet deleted in turn. 0 of 6 idle; drops range 0.052 to 0.166.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4612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8B54A"/>
                </a:solidFill>
                <a:latin typeface="Segoe UI"/>
              </a:rPr>
              <a:t>What the six-sheet constraint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657600"/>
            <a:ext cx="4983480" cy="310896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11696" y="3712463"/>
            <a:ext cx="2075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043416" y="3712463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6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9296" y="3712463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18 sheets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4023359"/>
            <a:ext cx="2075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mean IoU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4023359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9296" y="4023359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279392"/>
            <a:ext cx="4983480" cy="310896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11696" y="4334255"/>
            <a:ext cx="2075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worst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4334255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9296" y="4334255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0.871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4645151"/>
            <a:ext cx="2075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cut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4645151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9296" y="4645151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37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901184"/>
            <a:ext cx="4983480" cy="310896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711696" y="4956048"/>
            <a:ext cx="2075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joints to assemble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3416" y="4956048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9296" y="4956048"/>
            <a:ext cx="10698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0"/>
                </a:solidFill>
                <a:latin typeface="Segoe UI"/>
              </a:rPr>
              <a:t>108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440680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Six sheets costs about 4% accuracy and removes </a:t>
            </a:r>
            <a:r>
              <a:rPr sz="1150" b="1">
                <a:solidFill>
                  <a:srgbClr val="E8B54A"/>
                </a:solidFill>
                <a:latin typeface="Segoe UI"/>
              </a:rPr>
              <a:t>96 assembly joints</a:t>
            </a:r>
            <a:r>
              <a:rPr sz="1150" b="0">
                <a:solidFill>
                  <a:srgbClr val="92969C"/>
                </a:solidFill>
                <a:latin typeface="Segoe UI"/>
              </a:rPr>
              <a:t>. Every joint is an independent chance to misalign the whole piece, so we would make that trade again.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GENERALITY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method is not specific to this painting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review_w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2171"/>
            <a:ext cx="3454298" cy="2439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791456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Three facial expressions — distinctness 0.97</a:t>
            </a:r>
          </a:p>
        </p:txBody>
      </p:sp>
      <p:pic>
        <p:nvPicPr>
          <p:cNvPr id="7" name="Picture 6" descr="preview_wa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090" y="1828800"/>
            <a:ext cx="2755514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68698" y="4791456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Two institutional logos</a:t>
            </a:r>
          </a:p>
        </p:txBody>
      </p:sp>
      <p:pic>
        <p:nvPicPr>
          <p:cNvPr id="9" name="Picture 8" descr="wa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535" y="1828800"/>
            <a:ext cx="2905285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79028" y="4791456"/>
            <a:ext cx="34542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Hokusai series — subtractive colour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25780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F2F2F0"/>
                </a:solidFill>
                <a:latin typeface="Segoe UI"/>
              </a:rPr>
              <a:t>The same solver produced all of these. Over the semester we ran it across portraits, faces, logos, still lifes and landscapes, plus a 174-run study characterising cross-talk noise.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The limits are known and documented: subjects must be centred on a plain background, and full-frame paintings do not work — there is no silhouette to carry.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Live demo, and the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3478682" cy="205740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2354579"/>
            <a:ext cx="325922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examples/photos/demo_ui.png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Parametric solve, live or recorded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6506" y="1737360"/>
            <a:ext cx="3478682" cy="205740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66234" y="2354579"/>
            <a:ext cx="325922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examples/photos/scene_3d.png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The interactive 3D scene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4644" y="1737360"/>
            <a:ext cx="3478682" cy="2057400"/>
          </a:xfrm>
          <a:prstGeom prst="roundRect">
            <a:avLst>
              <a:gd name="adj" fmla="val 3000"/>
            </a:avLst>
          </a:prstGeom>
          <a:solidFill>
            <a:srgbClr val="1C2026"/>
          </a:solidFill>
          <a:ln w="15875">
            <a:solidFill>
              <a:srgbClr val="E8B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64372" y="2354579"/>
            <a:ext cx="325922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DROP PHOTO 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examples/photos/video_still.png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2969C"/>
                </a:solidFill>
                <a:latin typeface="Segoe UI"/>
              </a:rPr>
              <a:t>30–40 second summary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931920"/>
            <a:ext cx="3478682" cy="19659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7824" y="4096512"/>
            <a:ext cx="303977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E8B54A"/>
                </a:solidFill>
                <a:latin typeface="Segoe UI"/>
              </a:rPr>
              <a:t>Parametric interface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· sheet count and spacing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· lamp distance and source radius → penumbra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· fragment size and shard budget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· the four engrave tone levels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· stop angles and grid phase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Each is a field on the configuration object; a re-solve is 21.6 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6506" y="3931920"/>
            <a:ext cx="3478682" cy="19659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5962" y="4096512"/>
            <a:ext cx="303977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E8B54A"/>
                </a:solidFill>
                <a:latin typeface="Segoe UI"/>
              </a:rPr>
              <a:t>CAD interoperability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· per-vertex-coloured </a:t>
            </a:r>
            <a:r>
              <a:rPr sz="1000" b="1">
                <a:solidFill>
                  <a:srgbClr val="E8B54A"/>
                </a:solidFill>
                <a:latin typeface="Segoe UI"/>
              </a:rPr>
              <a:t>OBJ</a:t>
            </a:r>
            <a:r>
              <a:rPr sz="1000" b="0">
                <a:solidFill>
                  <a:srgbClr val="F2F2F0"/>
                </a:solidFill>
                <a:latin typeface="Segoe UI"/>
              </a:rPr>
              <a:t> and </a:t>
            </a:r>
            <a:r>
              <a:rPr sz="1000" b="1">
                <a:solidFill>
                  <a:srgbClr val="E8B54A"/>
                </a:solidFill>
                <a:latin typeface="Segoe UI"/>
              </a:rPr>
              <a:t>PLY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· opens cleanly in Rhino, Blender, MeshLab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· layered </a:t>
            </a:r>
            <a:r>
              <a:rPr sz="1000" b="1">
                <a:solidFill>
                  <a:srgbClr val="E8B54A"/>
                </a:solidFill>
                <a:latin typeface="Segoe UI"/>
              </a:rPr>
              <a:t>DXF</a:t>
            </a:r>
            <a:r>
              <a:rPr sz="1000" b="0">
                <a:solidFill>
                  <a:srgbClr val="F2F2F0"/>
                </a:solidFill>
                <a:latin typeface="Segoe UI"/>
              </a:rPr>
              <a:t> / </a:t>
            </a:r>
            <a:r>
              <a:rPr sz="1000" b="1">
                <a:solidFill>
                  <a:srgbClr val="E8B54A"/>
                </a:solidFill>
                <a:latin typeface="Segoe UI"/>
              </a:rPr>
              <a:t>SVG</a:t>
            </a:r>
            <a:r>
              <a:rPr sz="1000" b="0">
                <a:solidFill>
                  <a:srgbClr val="F2F2F0"/>
                </a:solidFill>
                <a:latin typeface="Segoe UI"/>
              </a:rPr>
              <a:t> per sheet, laser-ready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· orbitable browser scene: sheets, lamp, rays,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   and all three projected walls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No Grasshopper component yet — the solver is a Python library that a component would wrap.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4644" y="3931920"/>
            <a:ext cx="3478682" cy="19659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4100" y="4096512"/>
            <a:ext cx="303977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E8B54A"/>
                </a:solidFill>
                <a:latin typeface="Segoe UI"/>
              </a:rPr>
              <a:t>The film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0:00  the six sheets, flat on the bench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0:06  assembly — slotting the weave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0:12  lamp on, the first portrait resolves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0:20  slow rotation, morphing to the profile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2F2F0"/>
                </a:solidFill>
                <a:latin typeface="Segoe UI"/>
              </a:rPr>
              <a:t>0:34  title card and names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</a:pPr>
            <a:r>
              <a:rPr sz="900" b="0">
                <a:solidFill>
                  <a:srgbClr val="92969C"/>
                </a:solidFill>
                <a:latin typeface="Segoe UI"/>
              </a:rPr>
              <a:t>The continuous rotation is the shot that sells the piece.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6016752"/>
            <a:ext cx="10874959" cy="457200"/>
          </a:xfrm>
          <a:prstGeom prst="roundRect">
            <a:avLst>
              <a:gd name="adj" fmla="val 4000"/>
            </a:avLst>
          </a:prstGeom>
          <a:solidFill>
            <a:srgbClr val="3A2A12"/>
          </a:solidFill>
          <a:ln w="12700">
            <a:solidFill>
              <a:srgbClr val="E8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6135624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8B54A"/>
                </a:solidFill>
                <a:latin typeface="Segoe UI"/>
              </a:rPr>
              <a:t>TEMPLATE SLIDE — REPLACE BEFORE PRESENTING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What the semester actually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5318607" cy="22402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1993391"/>
            <a:ext cx="4769967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E8B54A"/>
                </a:solidFill>
                <a:latin typeface="Segoe UI"/>
              </a:rPr>
              <a:t>A measured rule is only valid over the range it was measured 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Both of our design rules reversed when we cut from eighteen sheets to six. Neither had been measured badly. Both had been measured while another variable was pinned by a constraint that then went away. This is a confounding failure, and it is not detectable from inside the original experiment.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4719" y="1755648"/>
            <a:ext cx="5318607" cy="22402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89039" y="1993391"/>
            <a:ext cx="4769967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E8B54A"/>
                </a:solidFill>
                <a:latin typeface="Segoe UI"/>
              </a:rPr>
              <a:t>A gate that only ever passes is not a gate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Our ablation check earned its place the day it contradicted us. One sheet carried 32 engraved regions against ~990 on its neighbours and looked like a blank. It has the </a:t>
            </a:r>
            <a:r>
              <a:rPr sz="1150" b="1">
                <a:solidFill>
                  <a:srgbClr val="E8B54A"/>
                </a:solidFill>
                <a:latin typeface="Segoe UI"/>
              </a:rPr>
              <a:t>largest</a:t>
            </a:r>
            <a:r>
              <a:rPr sz="1150" b="0">
                <a:solidFill>
                  <a:srgbClr val="92969C"/>
                </a:solidFill>
                <a:latin typeface="Segoe UI"/>
              </a:rPr>
              <a:t> ablation drop of all six. Region count is not contribution.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33087"/>
            <a:ext cx="5318607" cy="22402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4370831"/>
            <a:ext cx="4769967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E8B54A"/>
                </a:solidFill>
                <a:latin typeface="Segoe UI"/>
              </a:rPr>
              <a:t>The right thing to differentiate is the wrong thing to accept 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MSE is smooth and gives a usable descent direction, so we propose with it. Optimising it to convergence produces flat, low-contrast solutions that score well and look worse — so acceptance is judged on a composite objective instead.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4719" y="4133087"/>
            <a:ext cx="5318607" cy="22402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89039" y="4370831"/>
            <a:ext cx="4769967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E8B54A"/>
                </a:solidFill>
                <a:latin typeface="Segoe UI"/>
              </a:rPr>
              <a:t>Report a metric with the thing it is blind to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IoU scores silhouettes. Across the entire re-toning stage — the stage that took the faces from crushed to readable — it moved by </a:t>
            </a:r>
            <a:r>
              <a:rPr sz="1150" b="1">
                <a:solidFill>
                  <a:srgbClr val="E8B54A"/>
                </a:solidFill>
                <a:latin typeface="Segoe UI"/>
              </a:rPr>
              <a:t>+0.0024</a:t>
            </a:r>
            <a:r>
              <a:rPr sz="1150" b="0">
                <a:solidFill>
                  <a:srgbClr val="92969C"/>
                </a:solidFill>
                <a:latin typeface="Segoe UI"/>
              </a:rPr>
              <a:t>. It was not wrong; it was answering a different question. We now never report it without SSIM and an edge term beside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Where this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2554147" cy="33832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207865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E8B54A"/>
                </a:solidFill>
                <a:latin typeface="Segoe UI"/>
              </a:rPr>
              <a:t>Look ahead, not just forward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Host assignment is a single greedy pass — no lookahead, no revisiting. A fragment placed early cannot move once later ones reveal a better arrangement. Beam search, or a second reassignment pass conditioned on the stray field the first one actually produced, is the obvious next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1971" y="1783080"/>
            <a:ext cx="2554147" cy="33832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69715" y="2011680"/>
            <a:ext cx="207865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E8B54A"/>
                </a:solidFill>
                <a:latin typeface="Segoe UI"/>
              </a:rPr>
              <a:t>Blue-noise tone quantisation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Fragment boundaries still correlate weakly along the vertical axis, producing faint streaks in the result. Error diffusion with a blue-noise mask inside the re-toning stage is the standard halftoning answer, and is not yet implemented.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5575" y="1783080"/>
            <a:ext cx="2554147" cy="33832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43319" y="2011680"/>
            <a:ext cx="207865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E8B54A"/>
                </a:solidFill>
                <a:latin typeface="Segoe UI"/>
              </a:rPr>
              <a:t>Continuous rotation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Three stops is a design choice, not a limit. Supervising the intermediate angles would turn the piece from three portraits into a genuine animation — a face that turns, rather than three faces that swap.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179" y="1783080"/>
            <a:ext cx="2554147" cy="33832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216923" y="2011680"/>
            <a:ext cx="207865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04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E8B54A"/>
                </a:solidFill>
                <a:latin typeface="Segoe UI"/>
              </a:rPr>
              <a:t>A real parametric front end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The configuration is already fully parametric and a solve takes 21.6 seconds. Sliders, and a Grasshopper component wrapping the same library, would put the design loop in a designer's hands rather than a programmer's — which is where this project started.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49240"/>
            <a:ext cx="10874959" cy="96012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2F2F0"/>
                </a:solidFill>
                <a:latin typeface="Segoe UI"/>
              </a:rPr>
              <a:t>Code, cut files, sweep journals and the full decision record:  </a:t>
            </a:r>
            <a:r>
              <a:rPr sz="1350" b="1">
                <a:solidFill>
                  <a:srgbClr val="E8B54A"/>
                </a:solidFill>
                <a:latin typeface="Segoe UI"/>
              </a:rPr>
              <a:t>github.com/shathan18/school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Thank you — questions welcome.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697480"/>
            <a:ext cx="108749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3800" b="0">
                <a:solidFill>
                  <a:srgbClr val="F2F2F0"/>
                </a:solidFill>
                <a:latin typeface="Segoe UI"/>
              </a:rPr>
              <a:t>Backup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2969C"/>
                </a:solidFill>
                <a:latin typeface="Segoe UI"/>
              </a:rPr>
              <a:t>Not presented — held for the critique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431596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BACKUP —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damage functional, in full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8B54A"/>
                </a:solidFill>
                <a:latin typeface="Segoe UI"/>
              </a:rPr>
              <a:t>What a fragment costs the views it was not drawn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5989320" cy="105156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237744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F2F2F0"/>
                </a:solidFill>
                <a:latin typeface="Consolas"/>
              </a:rPr>
              <a:t>δ(f,p) = mean over q of   ‖T_f − T_w(q)‖²  −  ‖1 − T_w(q)‖²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Consolas"/>
              </a:rPr>
              <a:t>q = G(x),  for x in ≤200 sampled pixels of fragment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64992"/>
            <a:ext cx="5989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T_f is the fragment's transmittance; T_w(q) is what view </a:t>
            </a:r>
            <a:r>
              <a:rPr sz="1100" b="1">
                <a:solidFill>
                  <a:srgbClr val="E8B54A"/>
                </a:solidFill>
                <a:latin typeface="Segoe UI"/>
              </a:rPr>
              <a:t>w</a:t>
            </a:r>
            <a:r>
              <a:rPr sz="1100" b="0">
                <a:solidFill>
                  <a:srgbClr val="92969C"/>
                </a:solidFill>
                <a:latin typeface="Segoe UI"/>
              </a:rPr>
              <a:t> wants at the point its material lands on. The first term is the error </a:t>
            </a:r>
            <a:r>
              <a:rPr sz="1100" b="1">
                <a:solidFill>
                  <a:srgbClr val="E8B54A"/>
                </a:solidFill>
                <a:latin typeface="Segoe UI"/>
              </a:rPr>
              <a:t>with</a:t>
            </a:r>
            <a:r>
              <a:rPr sz="1100" b="0">
                <a:solidFill>
                  <a:srgbClr val="92969C"/>
                </a:solidFill>
                <a:latin typeface="Segoe UI"/>
              </a:rPr>
              <a:t> the fragment there, the second the error of leaving that spot blank — so δ is the change it causes, not its absolute darkness.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133087"/>
            <a:ext cx="5989320" cy="329184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" y="419709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the other view wants…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419709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4197096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2969C"/>
                </a:solidFill>
                <a:latin typeface="Segoe UI"/>
              </a:rPr>
              <a:t>consequence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52628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white 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4526280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8B54A"/>
                </a:solidFill>
                <a:latin typeface="Consolas"/>
              </a:rPr>
              <a:t>&gt;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4526280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pure harm — a visible stray shard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791455"/>
            <a:ext cx="5989320" cy="329184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85546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darkness already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4855464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8B54A"/>
                </a:solidFill>
                <a:latin typeface="Consolas"/>
              </a:rPr>
              <a:t>&lt;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4855464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credit — the stray shadow does real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18464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≈ this fragment's 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51846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8B54A"/>
                </a:solidFill>
                <a:latin typeface="Consolas"/>
              </a:rPr>
              <a:t>&lt;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5184648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maximal credit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449823"/>
            <a:ext cx="5989320" cy="329184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04672" y="5513831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nothing — it lands off-wall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5513831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8B54A"/>
                </a:solidFill>
                <a:latin typeface="Consola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3048" y="5513831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steering cross-talk away is learnable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70448"/>
            <a:ext cx="5989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8B54A"/>
                </a:solidFill>
                <a:latin typeface="Segoe UI"/>
              </a:rPr>
              <a:t>Because δ may be </a:t>
            </a:r>
            <a:r>
              <a:rPr sz="1150" b="1">
                <a:solidFill>
                  <a:srgbClr val="E8B54A"/>
                </a:solidFill>
                <a:latin typeface="Segoe UI"/>
              </a:rPr>
              <a:t>negative</a:t>
            </a:r>
            <a:r>
              <a:rPr sz="1150" b="0">
                <a:solidFill>
                  <a:srgbClr val="E8B54A"/>
                </a:solidFill>
                <a:latin typeface="Segoe UI"/>
              </a:rPr>
              <a:t>, the optimiser can be paid for cross-talk rather than merely tolerating it. Measured on the shipped build: </a:t>
            </a:r>
            <a:r>
              <a:rPr sz="1150" b="1">
                <a:solidFill>
                  <a:srgbClr val="E8B54A"/>
                </a:solidFill>
                <a:latin typeface="Segoe UI"/>
              </a:rPr>
              <a:t>−0.005</a:t>
            </a:r>
            <a:r>
              <a:rPr sz="1150" b="0">
                <a:solidFill>
                  <a:srgbClr val="E8B54A"/>
                </a:solidFill>
                <a:latin typeface="Segoe UI"/>
              </a:rPr>
              <a:t> — constructive.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84848" y="1737360"/>
            <a:ext cx="4745736" cy="22402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040880" y="1938528"/>
            <a:ext cx="425196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Why greedy, and what that costs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Assignment couples every pair of fragments through the multiplicative composite, so the exact problem is </a:t>
            </a:r>
            <a:r>
              <a:rPr sz="1100" b="1">
                <a:solidFill>
                  <a:srgbClr val="E8B54A"/>
                </a:solidFill>
                <a:latin typeface="Segoe UI"/>
              </a:rPr>
              <a:t>quadratic in the fragment count</a:t>
            </a:r>
            <a:r>
              <a:rPr sz="1100" b="0">
                <a:solidFill>
                  <a:srgbClr val="92969C"/>
                </a:solidFill>
                <a:latin typeface="Segoe UI"/>
              </a:rPr>
              <a:t>. We take one pass, ordered by demanded darkness, with no revisiting. It is provably not optimal.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2F2F0"/>
                </a:solidFill>
                <a:latin typeface="Segoe UI"/>
              </a:rPr>
              <a:t>The monotone second stage then recovers part of what the greedy left — and that pair measured better than a worse solution to the exact problem in the same wall-clock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84848" y="4114800"/>
            <a:ext cx="4745736" cy="141732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40880" y="4315968"/>
            <a:ext cx="4251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Complexity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F2F2F0"/>
                </a:solidFill>
                <a:latin typeface="Consolas"/>
              </a:rPr>
              <a:t>O(F · P · V · S),  S ≤ 200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F ≈ 1,168 fragments · P = 6 sheets · V = 3 views. Complete build 21.6 s on an RTX 3060 Ti.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5669280"/>
            <a:ext cx="47457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B54A"/>
                </a:solidFill>
                <a:latin typeface="Segoe UI"/>
              </a:rPr>
              <a:t>And λ is not a dial.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Every non-zero damage weight gave </a:t>
            </a:r>
            <a:r>
              <a:rPr sz="1100" b="1">
                <a:solidFill>
                  <a:srgbClr val="E8B54A"/>
                </a:solidFill>
                <a:latin typeface="Segoe UI"/>
              </a:rPr>
              <a:t>identical scores to four decimal places</a:t>
            </a:r>
            <a:r>
              <a:rPr sz="1100" b="0">
                <a:solidFill>
                  <a:srgbClr val="92969C"/>
                </a:solidFill>
                <a:latin typeface="Segoe UI"/>
              </a:rPr>
              <a:t>. It is a switch: price cross-talk, or do not.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BACKUP — OPTICS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optics fix what is physically knowable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53035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E8B54A"/>
                </a:solidFill>
                <a:latin typeface="Segoe UI"/>
              </a:rPr>
              <a:t>Central projection → one 3×3 matrix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A point light, a flat sheet and a flat wall define a projective collineation, so the whole mapping is a </a:t>
            </a:r>
            <a:r>
              <a:rPr sz="1250" b="1">
                <a:solidFill>
                  <a:srgbClr val="E8B54A"/>
                </a:solidFill>
                <a:latin typeface="Segoe UI"/>
              </a:rPr>
              <a:t>homography</a:t>
            </a:r>
            <a:r>
              <a:rPr sz="1250" b="0">
                <a:solidFill>
                  <a:srgbClr val="92969C"/>
                </a:solidFill>
                <a:latin typeface="Segoe UI"/>
              </a:rPr>
              <a:t>. We build it from the four sheet corners by normalised DLT and SVD, and cache it per (sheet, view) pair.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E8B54A"/>
                </a:solidFill>
                <a:latin typeface="Segoe UI"/>
              </a:rPr>
              <a:t>Magnification is the depth-to-resolution gradient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A 29.6 cm sheet becomes a </a:t>
            </a:r>
            <a:r>
              <a:rPr sz="1250" b="1">
                <a:solidFill>
                  <a:srgbClr val="E8B54A"/>
                </a:solidFill>
                <a:latin typeface="Segoe UI"/>
              </a:rPr>
              <a:t>1.80 m</a:t>
            </a:r>
            <a:r>
              <a:rPr sz="1250" b="0">
                <a:solidFill>
                  <a:srgbClr val="92969C"/>
                </a:solidFill>
                <a:latin typeface="Segoe UI"/>
              </a:rPr>
              <a:t> image — </a:t>
            </a:r>
            <a:r>
              <a:rPr sz="1250" b="1">
                <a:solidFill>
                  <a:srgbClr val="E8B54A"/>
                </a:solidFill>
                <a:latin typeface="Segoe UI"/>
              </a:rPr>
              <a:t>6.09×</a:t>
            </a:r>
            <a:r>
              <a:rPr sz="1250" b="0">
                <a:solidFill>
                  <a:srgbClr val="92969C"/>
                </a:solidFill>
                <a:latin typeface="Segoe UI"/>
              </a:rPr>
              <a:t>. Sheets nearer the lamp throw larger, coarser shadows; sheets nearer the wall carry finer detail. Depth is therefore also a detail budget.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E8B54A"/>
                </a:solidFill>
                <a:latin typeface="Segoe UI"/>
              </a:rPr>
              <a:t>Penumbra is a hard resolution bound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2969C"/>
                </a:solidFill>
                <a:latin typeface="Segoe UI"/>
              </a:rPr>
              <a:t>A real lamp has width, so every shadow edge is blurred — </a:t>
            </a:r>
            <a:r>
              <a:rPr sz="1250" b="1">
                <a:solidFill>
                  <a:srgbClr val="E8B54A"/>
                </a:solidFill>
                <a:latin typeface="Segoe UI"/>
              </a:rPr>
              <a:t>3.6 to 3.9 mm</a:t>
            </a:r>
            <a:r>
              <a:rPr sz="1250" b="0">
                <a:solidFill>
                  <a:srgbClr val="92969C"/>
                </a:solidFill>
                <a:latin typeface="Segoe UI"/>
              </a:rPr>
              <a:t> at the wall here. We compute that first and refuse to engrave anything finer. Detail below the blur is precision the light can never resolve; fabricating it is a lie told in acrylic.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230368" cy="416052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8B54A"/>
                </a:solidFill>
                <a:latin typeface="Segoe UI"/>
              </a:rPr>
              <a:t>The rig these numbers describe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957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lamp →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3957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0.493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386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body → 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7386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2.507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815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lamp height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0815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0.874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244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4244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295.8 × 295.8 mm, 3 mm cast acrylic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673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footprint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7673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298.7 × 298.7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102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image on the 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1102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1.80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531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magnification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4531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6.085×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7960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penumbra at the wall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7960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3.59 / 3.93 / 3.93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1389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smallest honest 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1389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30.4 mm at the wall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481828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turntable stops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481828"/>
            <a:ext cx="23957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2F2F0"/>
                </a:solidFill>
                <a:latin typeface="Segoe UI"/>
              </a:rPr>
              <a:t>15° / 135° / 255°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BACKUP — FABRICATION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From a solved field to files a laser can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8B54A"/>
                </a:solidFill>
                <a:latin typeface="Segoe UI"/>
              </a:rPr>
              <a:t>Vectorisation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2F2F0"/>
                </a:solidFill>
                <a:latin typeface="Segoe UI"/>
              </a:rPr>
              <a:t>1.  Threshold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Each sheet's solved field is split into the four tone levels.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26664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2F2F0"/>
                </a:solidFill>
                <a:latin typeface="Segoe UI"/>
              </a:rPr>
              <a:t>2.  Minimum feature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Morphological opening then closing at the cuttable radius — this is where the penumbra bound becomes physical geometry.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130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2F2F0"/>
                </a:solidFill>
                <a:latin typeface="Segoe UI"/>
              </a:rPr>
              <a:t>3.  Contour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Regions become polygons in sheet-local millimetres.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99432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2F2F0"/>
                </a:solidFill>
                <a:latin typeface="Segoe UI"/>
              </a:rPr>
              <a:t>4.  Kerf offset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Every ring is grown by half the beam width, so the finished part is nominal size after the laser eats the 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44068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565099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B54A"/>
                </a:solidFill>
                <a:latin typeface="Segoe UI"/>
              </a:rPr>
              <a:t>Layer order: ENG_L → ENG_D → ENG_K → CUT_SLOT → CUT_OUTLINE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Engrave first, cut last. Cutting the outline first leaves a compliant part that lifts and defocuses.</a:t>
            </a:r>
          </a:p>
        </p:txBody>
      </p:sp>
      <p:pic>
        <p:nvPicPr>
          <p:cNvPr id="12" name="Picture 11" descr="4_fabr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820035"/>
            <a:ext cx="5276088" cy="94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49834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8B54A"/>
                </a:solidFill>
                <a:latin typeface="Segoe U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983480"/>
            <a:ext cx="39044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sheets, 295.8 mm square, 3 mm clear acrylic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24865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8B54A"/>
                </a:solidFill>
                <a:latin typeface="Segoe UI"/>
              </a:rPr>
              <a:t>3,629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5248656"/>
            <a:ext cx="39044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engraved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51383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8B54A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513832"/>
            <a:ext cx="39044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tone levels — clear, 0.85, 0.62, 0.35 transmittance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77900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8B54A"/>
                </a:solidFill>
                <a:latin typeface="Segoe UI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779008"/>
            <a:ext cx="39044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half-lap joints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6044184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8B54A"/>
                </a:solidFill>
                <a:latin typeface="Segoe UI"/>
              </a:rPr>
              <a:t>3.46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6044184"/>
            <a:ext cx="39044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widest slot on 3.0 mm stock, at 60° crossing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BACKUP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The design sweep, and the two rules that reversed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2_le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33" y="1691640"/>
            <a:ext cx="6454588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737360"/>
            <a:ext cx="3758184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>
                <a:solidFill>
                  <a:srgbClr val="E8B54A"/>
                </a:solidFill>
                <a:latin typeface="Segoe UI"/>
              </a:rPr>
              <a:t>We swept the design, not the solver.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Sheet count, pitch, engrave alphabet, damage weight and fragment size — </a:t>
            </a:r>
            <a:r>
              <a:rPr sz="1150" b="1">
                <a:solidFill>
                  <a:srgbClr val="E8B54A"/>
                </a:solidFill>
                <a:latin typeface="Segoe UI"/>
              </a:rPr>
              <a:t>two seeds per point</a:t>
            </a:r>
            <a:r>
              <a:rPr sz="1150" b="0">
                <a:solidFill>
                  <a:srgbClr val="92969C"/>
                </a:solidFill>
                <a:latin typeface="Segoe UI"/>
              </a:rPr>
              <a:t>, accepted on a composite of mean IoU, worst view and SSIM rather than on IoU alone.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F2F2F0"/>
                </a:solidFill>
                <a:latin typeface="Segoe UI"/>
              </a:rPr>
              <a:t>Pitch wanted to open, not tighten.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Tight stacking was right when sheets were many. At six, </a:t>
            </a:r>
            <a:r>
              <a:rPr sz="1150" b="1">
                <a:solidFill>
                  <a:srgbClr val="E8B54A"/>
                </a:solidFill>
                <a:latin typeface="Segoe UI"/>
              </a:rPr>
              <a:t>50 mm</a:t>
            </a:r>
            <a:r>
              <a:rPr sz="1150" b="0">
                <a:solidFill>
                  <a:srgbClr val="92969C"/>
                </a:solidFill>
                <a:latin typeface="Segoe UI"/>
              </a:rPr>
              <a:t> takes the worst view from 0.785 to 0.816 and drives cross-talk to zero. 100 mm collapses it again.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F2F2F0"/>
                </a:solidFill>
                <a:latin typeface="Segoe UI"/>
              </a:rPr>
              <a:t>The engrave alphabet wanted to go light.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2969C"/>
                </a:solidFill>
                <a:latin typeface="Segoe UI"/>
              </a:rPr>
              <a:t>Eighteen pale layers multiply into darkness, so the tones must be dark. With two layers per view there is little left to multiply, and a dark alphabet overshoots. We ship </a:t>
            </a:r>
            <a:r>
              <a:rPr sz="1150" b="1">
                <a:solidFill>
                  <a:srgbClr val="E8B54A"/>
                </a:solidFill>
                <a:latin typeface="Segoe UI"/>
              </a:rPr>
              <a:t>0.85 / 0.62 / 0.35</a:t>
            </a:r>
            <a:r>
              <a:rPr sz="1150" b="0">
                <a:solidFill>
                  <a:srgbClr val="92969C"/>
                </a:solidFill>
                <a:latin typeface="Segoe UI"/>
              </a:rPr>
              <a:t> — the rule from the literature finished </a:t>
            </a:r>
            <a:r>
              <a:rPr sz="1150" b="1">
                <a:solidFill>
                  <a:srgbClr val="E8B54A"/>
                </a:solidFill>
                <a:latin typeface="Segoe UI"/>
              </a:rPr>
              <a:t>sixth of seven</a:t>
            </a:r>
            <a:r>
              <a:rPr sz="1150" b="0">
                <a:solidFill>
                  <a:srgbClr val="92969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8B54A"/>
                </a:solidFill>
                <a:latin typeface="Segoe UI"/>
              </a:rPr>
              <a:t>BACKUP —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2F2F0"/>
                </a:solidFill>
                <a:latin typeface="Segoe UI"/>
              </a:rPr>
              <a:t>Questions we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05840" cy="25603"/>
          </a:xfrm>
          <a:prstGeom prst="rect">
            <a:avLst/>
          </a:prstGeom>
          <a:solidFill>
            <a:srgbClr val="E8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478682" cy="210312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002536"/>
            <a:ext cx="300319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Why only six sheets?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Eighteen scores 0.882 against our 0.846 — about 4%. It also costs 24 more cut files and </a:t>
            </a:r>
            <a:r>
              <a:rPr sz="1100" b="1">
                <a:solidFill>
                  <a:srgbClr val="E8B54A"/>
                </a:solidFill>
                <a:latin typeface="Segoe UI"/>
              </a:rPr>
              <a:t>96 more assembly joints</a:t>
            </a:r>
            <a:r>
              <a:rPr sz="1100" b="0">
                <a:solidFill>
                  <a:srgbClr val="92969C"/>
                </a:solidFill>
                <a:latin typeface="Segoe UI"/>
              </a:rPr>
              <a:t>, and every joint is an independent chance to misalign the whole piece.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6506" y="1783080"/>
            <a:ext cx="3478682" cy="210312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94250" y="2002536"/>
            <a:ext cx="300319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Is the greedy optimal?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No. One pass, no revisiting; the exact problem is quadratic in the fragment count. Beam search or a second reassignment pass is the first item of future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4644" y="1783080"/>
            <a:ext cx="3478682" cy="210312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92388" y="2002536"/>
            <a:ext cx="300319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How do you know the files match the simulation?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Gate B re-renders from the </a:t>
            </a:r>
            <a:r>
              <a:rPr sz="1100" b="1">
                <a:solidFill>
                  <a:srgbClr val="E8B54A"/>
                </a:solidFill>
                <a:latin typeface="Segoe UI"/>
              </a:rPr>
              <a:t>exported polygons</a:t>
            </a:r>
            <a:r>
              <a:rPr sz="1100" b="0">
                <a:solidFill>
                  <a:srgbClr val="92969C"/>
                </a:solidFill>
                <a:latin typeface="Segoe UI"/>
              </a:rPr>
              <a:t>, not the solver's own raster. The round trip costs +0.0018 mean IoU, and that number is measured every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023360"/>
            <a:ext cx="3478682" cy="210312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4242816"/>
            <a:ext cx="300319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What if a sheet is mis-cut?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The piece fails rather than degrades. At six sheets there is no redundancy — ablation drops range 0.052 to 0.166 — and that is a deliberate trade.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6506" y="4023360"/>
            <a:ext cx="3478682" cy="210312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94250" y="4242816"/>
            <a:ext cx="300319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Why not three separate stacks?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Then it is three objects in a box, not one object. That every piece of matter is visible to all three views at once </a:t>
            </a:r>
            <a:r>
              <a:rPr sz="1100" b="1">
                <a:solidFill>
                  <a:srgbClr val="E8B54A"/>
                </a:solidFill>
                <a:latin typeface="Segoe UI"/>
              </a:rPr>
              <a:t>is</a:t>
            </a:r>
            <a:r>
              <a:rPr sz="1100" b="0">
                <a:solidFill>
                  <a:srgbClr val="92969C"/>
                </a:solidFill>
                <a:latin typeface="Segoe UI"/>
              </a:rPr>
              <a:t> the problem; removing it removes the project.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4644" y="4023360"/>
            <a:ext cx="3478682" cy="2103120"/>
          </a:xfrm>
          <a:prstGeom prst="roundRect">
            <a:avLst>
              <a:gd name="adj" fmla="val 4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92388" y="4242816"/>
            <a:ext cx="300319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E8B54A"/>
                </a:solidFill>
                <a:latin typeface="Segoe UI"/>
              </a:rPr>
              <a:t>Does it work for any three images?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2969C"/>
                </a:solidFill>
                <a:latin typeface="Segoe UI"/>
              </a:rPr>
              <a:t>No. Subjects must be centred on a plain background; full-frame paintings have no silhouette to carry and fail. The distinctness of the three targets predicts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